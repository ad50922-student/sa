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DCC7E-1060-4EFB-A703-6764A0BC0B62}" v="281" dt="2026-06-16T19:54:18.1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ata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B25A43-7641-4C13-A793-E8142A29398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1F7BD75-7855-46B7-A7BB-27E4EDE92A3D}">
      <dgm:prSet/>
      <dgm:spPr/>
      <dgm:t>
        <a:bodyPr/>
        <a:lstStyle/>
        <a:p>
          <a:pPr rtl="0">
            <a:lnSpc>
              <a:spcPct val="100000"/>
            </a:lnSpc>
          </a:pPr>
          <a:r>
            <a:rPr lang="pl-PL"/>
            <a:t>Zaimplementowany system pozwala na generacje prostych, monofonicznych melodii bez znacznego dysonansu i kompletnego rytmicznego chaosu.</a:t>
          </a:r>
          <a:endParaRPr lang="en-US">
            <a:latin typeface="Univers Condensed"/>
          </a:endParaRPr>
        </a:p>
      </dgm:t>
    </dgm:pt>
    <dgm:pt modelId="{5AFC4930-DCAD-47B8-9165-FFFBC74CB12F}" type="parTrans" cxnId="{01B2811B-7D7D-4A44-82C3-B3CCC2A940B2}">
      <dgm:prSet/>
      <dgm:spPr/>
      <dgm:t>
        <a:bodyPr/>
        <a:lstStyle/>
        <a:p>
          <a:endParaRPr lang="en-US"/>
        </a:p>
      </dgm:t>
    </dgm:pt>
    <dgm:pt modelId="{35EA3D8D-74F9-4F2A-9C2A-4C8BAF8AB2D0}" type="sibTrans" cxnId="{01B2811B-7D7D-4A44-82C3-B3CCC2A940B2}">
      <dgm:prSet/>
      <dgm:spPr/>
      <dgm:t>
        <a:bodyPr/>
        <a:lstStyle/>
        <a:p>
          <a:endParaRPr lang="en-US"/>
        </a:p>
      </dgm:t>
    </dgm:pt>
    <dgm:pt modelId="{96333027-EC01-4936-9DCC-3ED9A2B0358C}">
      <dgm:prSet/>
      <dgm:spPr/>
      <dgm:t>
        <a:bodyPr/>
        <a:lstStyle/>
        <a:p>
          <a:pPr>
            <a:lnSpc>
              <a:spcPct val="100000"/>
            </a:lnSpc>
          </a:pPr>
          <a:r>
            <a:rPr lang="pl-PL"/>
            <a:t>Tempa spoza zakresu 50-150 BPM powodowały generację nienaturalnie brzmiących melodii.</a:t>
          </a:r>
          <a:endParaRPr lang="en-US"/>
        </a:p>
      </dgm:t>
    </dgm:pt>
    <dgm:pt modelId="{C9CF00FF-B5D0-4DCF-8F0A-D4420F49705F}" type="parTrans" cxnId="{8AA95420-D88A-4633-BBB5-212231466332}">
      <dgm:prSet/>
      <dgm:spPr/>
      <dgm:t>
        <a:bodyPr/>
        <a:lstStyle/>
        <a:p>
          <a:endParaRPr lang="en-US"/>
        </a:p>
      </dgm:t>
    </dgm:pt>
    <dgm:pt modelId="{AB78A993-1750-4D64-A3BF-70B3CD556F4F}" type="sibTrans" cxnId="{8AA95420-D88A-4633-BBB5-212231466332}">
      <dgm:prSet/>
      <dgm:spPr/>
      <dgm:t>
        <a:bodyPr/>
        <a:lstStyle/>
        <a:p>
          <a:endParaRPr lang="en-US"/>
        </a:p>
      </dgm:t>
    </dgm:pt>
    <dgm:pt modelId="{DAE34AC0-B699-4FBB-88E9-0D48F141C543}">
      <dgm:prSet phldrT="[Tekst]" phldr="0"/>
      <dgm:spPr/>
      <dgm:t>
        <a:bodyPr/>
        <a:lstStyle/>
        <a:p>
          <a:pPr>
            <a:lnSpc>
              <a:spcPct val="100000"/>
            </a:lnSpc>
          </a:pPr>
          <a:r>
            <a:rPr lang="pl-PL"/>
            <a:t>Można zaobserwować pewne podobne i </a:t>
          </a:r>
          <a:r>
            <a:rPr lang="pl-PL">
              <a:latin typeface="Univers Condensed"/>
            </a:rPr>
            <a:t>powtarzające</a:t>
          </a:r>
          <a:r>
            <a:rPr lang="pl-PL"/>
            <a:t> się motywy i frazy w różnych utworach. </a:t>
          </a:r>
        </a:p>
      </dgm:t>
    </dgm:pt>
    <dgm:pt modelId="{E077163E-2582-4A4E-964B-A2FA48F3F7AD}" type="parTrans" cxnId="{A2F1E6FC-7E07-411B-9425-89CF124E6E9D}">
      <dgm:prSet/>
      <dgm:spPr/>
    </dgm:pt>
    <dgm:pt modelId="{4B34D47D-F215-4661-803D-AA6669E0D2E2}" type="sibTrans" cxnId="{A2F1E6FC-7E07-411B-9425-89CF124E6E9D}">
      <dgm:prSet/>
      <dgm:spPr/>
    </dgm:pt>
    <dgm:pt modelId="{BE53615F-43EE-4A6B-96A7-17C33D2AE33B}" type="pres">
      <dgm:prSet presAssocID="{82B25A43-7641-4C13-A793-E8142A293982}" presName="root" presStyleCnt="0">
        <dgm:presLayoutVars>
          <dgm:dir/>
          <dgm:resizeHandles val="exact"/>
        </dgm:presLayoutVars>
      </dgm:prSet>
      <dgm:spPr/>
    </dgm:pt>
    <dgm:pt modelId="{60DB993D-D335-460C-B092-42953941C71C}" type="pres">
      <dgm:prSet presAssocID="{A1F7BD75-7855-46B7-A7BB-27E4EDE92A3D}" presName="compNode" presStyleCnt="0"/>
      <dgm:spPr/>
    </dgm:pt>
    <dgm:pt modelId="{5C54689D-62BF-419E-B874-C1380DA61B27}" type="pres">
      <dgm:prSet presAssocID="{A1F7BD75-7855-46B7-A7BB-27E4EDE92A3D}" presName="bgRect" presStyleLbl="bgShp" presStyleIdx="0" presStyleCnt="3"/>
      <dgm:spPr/>
    </dgm:pt>
    <dgm:pt modelId="{A0E9D7CE-2D35-456C-9192-BDFD794A35FB}" type="pres">
      <dgm:prSet presAssocID="{A1F7BD75-7855-46B7-A7BB-27E4EDE92A3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usic Notes"/>
        </a:ext>
      </dgm:extLst>
    </dgm:pt>
    <dgm:pt modelId="{0AC30B0F-263A-41E0-AA99-F554E840FD09}" type="pres">
      <dgm:prSet presAssocID="{A1F7BD75-7855-46B7-A7BB-27E4EDE92A3D}" presName="spaceRect" presStyleCnt="0"/>
      <dgm:spPr/>
    </dgm:pt>
    <dgm:pt modelId="{48E0F612-4162-4017-84D4-C1139ED3E575}" type="pres">
      <dgm:prSet presAssocID="{A1F7BD75-7855-46B7-A7BB-27E4EDE92A3D}" presName="parTx" presStyleLbl="revTx" presStyleIdx="0" presStyleCnt="3">
        <dgm:presLayoutVars>
          <dgm:chMax val="0"/>
          <dgm:chPref val="0"/>
        </dgm:presLayoutVars>
      </dgm:prSet>
      <dgm:spPr/>
    </dgm:pt>
    <dgm:pt modelId="{7FDA7103-C5E7-4581-8948-A2FCD808FF92}" type="pres">
      <dgm:prSet presAssocID="{35EA3D8D-74F9-4F2A-9C2A-4C8BAF8AB2D0}" presName="sibTrans" presStyleCnt="0"/>
      <dgm:spPr/>
    </dgm:pt>
    <dgm:pt modelId="{2A839465-4489-47D4-80BD-2E3F59E9D32E}" type="pres">
      <dgm:prSet presAssocID="{DAE34AC0-B699-4FBB-88E9-0D48F141C543}" presName="compNode" presStyleCnt="0"/>
      <dgm:spPr/>
    </dgm:pt>
    <dgm:pt modelId="{F0E46123-A3C4-4150-B708-3F9E51A9B90B}" type="pres">
      <dgm:prSet presAssocID="{DAE34AC0-B699-4FBB-88E9-0D48F141C543}" presName="bgRect" presStyleLbl="bgShp" presStyleIdx="1" presStyleCnt="3"/>
      <dgm:spPr/>
    </dgm:pt>
    <dgm:pt modelId="{9895C91F-B743-4205-9DA2-9962E0D79D4F}" type="pres">
      <dgm:prSet presAssocID="{DAE34AC0-B699-4FBB-88E9-0D48F141C543}" presName="iconRect" presStyleLbl="node1" presStyleIdx="1" presStyleCnt="3"/>
      <dgm:spPr/>
    </dgm:pt>
    <dgm:pt modelId="{ED96C1FD-8D1E-4297-90F4-8D5EDA8AD063}" type="pres">
      <dgm:prSet presAssocID="{DAE34AC0-B699-4FBB-88E9-0D48F141C543}" presName="spaceRect" presStyleCnt="0"/>
      <dgm:spPr/>
    </dgm:pt>
    <dgm:pt modelId="{1FB0AE1A-2C5A-4296-BA33-2C51B3A44392}" type="pres">
      <dgm:prSet presAssocID="{DAE34AC0-B699-4FBB-88E9-0D48F141C543}" presName="parTx" presStyleLbl="revTx" presStyleIdx="1" presStyleCnt="3">
        <dgm:presLayoutVars>
          <dgm:chMax val="0"/>
          <dgm:chPref val="0"/>
        </dgm:presLayoutVars>
      </dgm:prSet>
      <dgm:spPr/>
    </dgm:pt>
    <dgm:pt modelId="{BF077855-DECF-400F-AE77-02E746DB49E1}" type="pres">
      <dgm:prSet presAssocID="{4B34D47D-F215-4661-803D-AA6669E0D2E2}" presName="sibTrans" presStyleCnt="0"/>
      <dgm:spPr/>
    </dgm:pt>
    <dgm:pt modelId="{6468CC3E-1A0F-4AB3-A746-32DAE4F029C7}" type="pres">
      <dgm:prSet presAssocID="{96333027-EC01-4936-9DCC-3ED9A2B0358C}" presName="compNode" presStyleCnt="0"/>
      <dgm:spPr/>
    </dgm:pt>
    <dgm:pt modelId="{CE44948D-D9C4-4289-860B-EA8C0B321C0D}" type="pres">
      <dgm:prSet presAssocID="{96333027-EC01-4936-9DCC-3ED9A2B0358C}" presName="bgRect" presStyleLbl="bgShp" presStyleIdx="2" presStyleCnt="3"/>
      <dgm:spPr/>
    </dgm:pt>
    <dgm:pt modelId="{A01F7AE9-5C7A-42B9-8EB3-1266DEBF9EC6}" type="pres">
      <dgm:prSet presAssocID="{96333027-EC01-4936-9DCC-3ED9A2B0358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eble clef"/>
        </a:ext>
      </dgm:extLst>
    </dgm:pt>
    <dgm:pt modelId="{F7461DBA-358E-470A-8248-9A226C8403E1}" type="pres">
      <dgm:prSet presAssocID="{96333027-EC01-4936-9DCC-3ED9A2B0358C}" presName="spaceRect" presStyleCnt="0"/>
      <dgm:spPr/>
    </dgm:pt>
    <dgm:pt modelId="{119CBE9D-9B68-4983-B5E8-0994C8148A66}" type="pres">
      <dgm:prSet presAssocID="{96333027-EC01-4936-9DCC-3ED9A2B0358C}" presName="parTx" presStyleLbl="revTx" presStyleIdx="2" presStyleCnt="3">
        <dgm:presLayoutVars>
          <dgm:chMax val="0"/>
          <dgm:chPref val="0"/>
        </dgm:presLayoutVars>
      </dgm:prSet>
      <dgm:spPr/>
    </dgm:pt>
  </dgm:ptLst>
  <dgm:cxnLst>
    <dgm:cxn modelId="{01B2811B-7D7D-4A44-82C3-B3CCC2A940B2}" srcId="{82B25A43-7641-4C13-A793-E8142A293982}" destId="{A1F7BD75-7855-46B7-A7BB-27E4EDE92A3D}" srcOrd="0" destOrd="0" parTransId="{5AFC4930-DCAD-47B8-9165-FFFBC74CB12F}" sibTransId="{35EA3D8D-74F9-4F2A-9C2A-4C8BAF8AB2D0}"/>
    <dgm:cxn modelId="{8AA95420-D88A-4633-BBB5-212231466332}" srcId="{82B25A43-7641-4C13-A793-E8142A293982}" destId="{96333027-EC01-4936-9DCC-3ED9A2B0358C}" srcOrd="2" destOrd="0" parTransId="{C9CF00FF-B5D0-4DCF-8F0A-D4420F49705F}" sibTransId="{AB78A993-1750-4D64-A3BF-70B3CD556F4F}"/>
    <dgm:cxn modelId="{60CBB839-D433-4B04-88DF-7E352C5477CB}" type="presOf" srcId="{96333027-EC01-4936-9DCC-3ED9A2B0358C}" destId="{119CBE9D-9B68-4983-B5E8-0994C8148A66}" srcOrd="0" destOrd="0" presId="urn:microsoft.com/office/officeart/2018/2/layout/IconVerticalSolidList"/>
    <dgm:cxn modelId="{681A136D-7AFD-4F39-B75C-246C087C8C4E}" type="presOf" srcId="{A1F7BD75-7855-46B7-A7BB-27E4EDE92A3D}" destId="{48E0F612-4162-4017-84D4-C1139ED3E575}" srcOrd="0" destOrd="0" presId="urn:microsoft.com/office/officeart/2018/2/layout/IconVerticalSolidList"/>
    <dgm:cxn modelId="{1382C0C9-D29F-44CE-A7A8-1934DBF4DCB3}" type="presOf" srcId="{82B25A43-7641-4C13-A793-E8142A293982}" destId="{BE53615F-43EE-4A6B-96A7-17C33D2AE33B}" srcOrd="0" destOrd="0" presId="urn:microsoft.com/office/officeart/2018/2/layout/IconVerticalSolidList"/>
    <dgm:cxn modelId="{5D6DFFED-73E8-4031-9A05-4D9C79ED64B4}" type="presOf" srcId="{DAE34AC0-B699-4FBB-88E9-0D48F141C543}" destId="{1FB0AE1A-2C5A-4296-BA33-2C51B3A44392}" srcOrd="0" destOrd="0" presId="urn:microsoft.com/office/officeart/2018/2/layout/IconVerticalSolidList"/>
    <dgm:cxn modelId="{A2F1E6FC-7E07-411B-9425-89CF124E6E9D}" srcId="{82B25A43-7641-4C13-A793-E8142A293982}" destId="{DAE34AC0-B699-4FBB-88E9-0D48F141C543}" srcOrd="1" destOrd="0" parTransId="{E077163E-2582-4A4E-964B-A2FA48F3F7AD}" sibTransId="{4B34D47D-F215-4661-803D-AA6669E0D2E2}"/>
    <dgm:cxn modelId="{9576A4DB-E24B-48B0-BDA8-A86F710B506C}" type="presParOf" srcId="{BE53615F-43EE-4A6B-96A7-17C33D2AE33B}" destId="{60DB993D-D335-460C-B092-42953941C71C}" srcOrd="0" destOrd="0" presId="urn:microsoft.com/office/officeart/2018/2/layout/IconVerticalSolidList"/>
    <dgm:cxn modelId="{DC1343B2-3B6B-47AD-BEBF-42AF5A0797FA}" type="presParOf" srcId="{60DB993D-D335-460C-B092-42953941C71C}" destId="{5C54689D-62BF-419E-B874-C1380DA61B27}" srcOrd="0" destOrd="0" presId="urn:microsoft.com/office/officeart/2018/2/layout/IconVerticalSolidList"/>
    <dgm:cxn modelId="{30D70D2E-9DDF-4F94-B227-085BA1C63695}" type="presParOf" srcId="{60DB993D-D335-460C-B092-42953941C71C}" destId="{A0E9D7CE-2D35-456C-9192-BDFD794A35FB}" srcOrd="1" destOrd="0" presId="urn:microsoft.com/office/officeart/2018/2/layout/IconVerticalSolidList"/>
    <dgm:cxn modelId="{6C162839-D243-4470-9BF8-460FAC851153}" type="presParOf" srcId="{60DB993D-D335-460C-B092-42953941C71C}" destId="{0AC30B0F-263A-41E0-AA99-F554E840FD09}" srcOrd="2" destOrd="0" presId="urn:microsoft.com/office/officeart/2018/2/layout/IconVerticalSolidList"/>
    <dgm:cxn modelId="{C24FD250-F998-48C4-918F-A2116C553FD3}" type="presParOf" srcId="{60DB993D-D335-460C-B092-42953941C71C}" destId="{48E0F612-4162-4017-84D4-C1139ED3E575}" srcOrd="3" destOrd="0" presId="urn:microsoft.com/office/officeart/2018/2/layout/IconVerticalSolidList"/>
    <dgm:cxn modelId="{B9FA641E-9D67-4C2D-9556-D9BAB7F7A9FD}" type="presParOf" srcId="{BE53615F-43EE-4A6B-96A7-17C33D2AE33B}" destId="{7FDA7103-C5E7-4581-8948-A2FCD808FF92}" srcOrd="1" destOrd="0" presId="urn:microsoft.com/office/officeart/2018/2/layout/IconVerticalSolidList"/>
    <dgm:cxn modelId="{DDD31840-B241-4915-90F4-037EF8AD8ED1}" type="presParOf" srcId="{BE53615F-43EE-4A6B-96A7-17C33D2AE33B}" destId="{2A839465-4489-47D4-80BD-2E3F59E9D32E}" srcOrd="2" destOrd="0" presId="urn:microsoft.com/office/officeart/2018/2/layout/IconVerticalSolidList"/>
    <dgm:cxn modelId="{58E314A6-ED8C-4B4B-A94C-7849A7248C46}" type="presParOf" srcId="{2A839465-4489-47D4-80BD-2E3F59E9D32E}" destId="{F0E46123-A3C4-4150-B708-3F9E51A9B90B}" srcOrd="0" destOrd="0" presId="urn:microsoft.com/office/officeart/2018/2/layout/IconVerticalSolidList"/>
    <dgm:cxn modelId="{AEBBE98A-CE14-48A0-841C-7A3A04CDE830}" type="presParOf" srcId="{2A839465-4489-47D4-80BD-2E3F59E9D32E}" destId="{9895C91F-B743-4205-9DA2-9962E0D79D4F}" srcOrd="1" destOrd="0" presId="urn:microsoft.com/office/officeart/2018/2/layout/IconVerticalSolidList"/>
    <dgm:cxn modelId="{3412682A-3FA7-43DC-AAB3-E8B81FC8B1AC}" type="presParOf" srcId="{2A839465-4489-47D4-80BD-2E3F59E9D32E}" destId="{ED96C1FD-8D1E-4297-90F4-8D5EDA8AD063}" srcOrd="2" destOrd="0" presId="urn:microsoft.com/office/officeart/2018/2/layout/IconVerticalSolidList"/>
    <dgm:cxn modelId="{1E6538D9-6C7C-4247-971E-F92FC0F7E7C8}" type="presParOf" srcId="{2A839465-4489-47D4-80BD-2E3F59E9D32E}" destId="{1FB0AE1A-2C5A-4296-BA33-2C51B3A44392}" srcOrd="3" destOrd="0" presId="urn:microsoft.com/office/officeart/2018/2/layout/IconVerticalSolidList"/>
    <dgm:cxn modelId="{AAEEAA53-B54F-4691-BCCE-2075BFD6A5E3}" type="presParOf" srcId="{BE53615F-43EE-4A6B-96A7-17C33D2AE33B}" destId="{BF077855-DECF-400F-AE77-02E746DB49E1}" srcOrd="3" destOrd="0" presId="urn:microsoft.com/office/officeart/2018/2/layout/IconVerticalSolidList"/>
    <dgm:cxn modelId="{CA5D8741-BBD6-4B4F-8CF2-CDEDDDC8CBC0}" type="presParOf" srcId="{BE53615F-43EE-4A6B-96A7-17C33D2AE33B}" destId="{6468CC3E-1A0F-4AB3-A746-32DAE4F029C7}" srcOrd="4" destOrd="0" presId="urn:microsoft.com/office/officeart/2018/2/layout/IconVerticalSolidList"/>
    <dgm:cxn modelId="{D997ED75-0827-4771-A3F0-95C49B3029B1}" type="presParOf" srcId="{6468CC3E-1A0F-4AB3-A746-32DAE4F029C7}" destId="{CE44948D-D9C4-4289-860B-EA8C0B321C0D}" srcOrd="0" destOrd="0" presId="urn:microsoft.com/office/officeart/2018/2/layout/IconVerticalSolidList"/>
    <dgm:cxn modelId="{8AE7C98E-FC50-4613-9273-823E24C07ACB}" type="presParOf" srcId="{6468CC3E-1A0F-4AB3-A746-32DAE4F029C7}" destId="{A01F7AE9-5C7A-42B9-8EB3-1266DEBF9EC6}" srcOrd="1" destOrd="0" presId="urn:microsoft.com/office/officeart/2018/2/layout/IconVerticalSolidList"/>
    <dgm:cxn modelId="{6EA3D9DF-351F-4BA0-8C1B-2E7E3F9A5DBC}" type="presParOf" srcId="{6468CC3E-1A0F-4AB3-A746-32DAE4F029C7}" destId="{F7461DBA-358E-470A-8248-9A226C8403E1}" srcOrd="2" destOrd="0" presId="urn:microsoft.com/office/officeart/2018/2/layout/IconVerticalSolidList"/>
    <dgm:cxn modelId="{959EF6A6-7E6F-4FC9-85A9-30BD53A861D4}" type="presParOf" srcId="{6468CC3E-1A0F-4AB3-A746-32DAE4F029C7}" destId="{119CBE9D-9B68-4983-B5E8-0994C8148A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DB67F2-854A-453C-9240-CF5D1F3DC7DF}"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33F1F323-1BB7-4FDA-B8E8-55F9003A5236}">
      <dgm:prSet/>
      <dgm:spPr/>
      <dgm:t>
        <a:bodyPr/>
        <a:lstStyle/>
        <a:p>
          <a:r>
            <a:rPr lang="pl-PL"/>
            <a:t>Zwiększenie zbioru danych treningowych</a:t>
          </a:r>
          <a:endParaRPr lang="en-US"/>
        </a:p>
      </dgm:t>
    </dgm:pt>
    <dgm:pt modelId="{53AA8A6D-CD8E-444D-9C75-E09443A143F6}" type="parTrans" cxnId="{5E9C4A6B-1099-4C02-A902-33862DFE7711}">
      <dgm:prSet/>
      <dgm:spPr/>
      <dgm:t>
        <a:bodyPr/>
        <a:lstStyle/>
        <a:p>
          <a:endParaRPr lang="en-US"/>
        </a:p>
      </dgm:t>
    </dgm:pt>
    <dgm:pt modelId="{DBE64A2D-802B-4FDB-A860-F2CF3B000BDE}" type="sibTrans" cxnId="{5E9C4A6B-1099-4C02-A902-33862DFE7711}">
      <dgm:prSet/>
      <dgm:spPr/>
      <dgm:t>
        <a:bodyPr/>
        <a:lstStyle/>
        <a:p>
          <a:endParaRPr lang="en-US"/>
        </a:p>
      </dgm:t>
    </dgm:pt>
    <dgm:pt modelId="{F4DA39D3-A29B-487F-8A6E-90643D3A43FA}">
      <dgm:prSet/>
      <dgm:spPr/>
      <dgm:t>
        <a:bodyPr/>
        <a:lstStyle/>
        <a:p>
          <a:r>
            <a:rPr lang="pl-PL"/>
            <a:t>Uczenie modelu konkretnych wydarzeń muzycznych</a:t>
          </a:r>
          <a:endParaRPr lang="en-US"/>
        </a:p>
      </dgm:t>
    </dgm:pt>
    <dgm:pt modelId="{8FB8AC22-A7F2-4198-B18C-4ABB47A5F408}" type="parTrans" cxnId="{03437FE9-B3EF-4989-B725-B9E94C55429A}">
      <dgm:prSet/>
      <dgm:spPr/>
      <dgm:t>
        <a:bodyPr/>
        <a:lstStyle/>
        <a:p>
          <a:endParaRPr lang="en-US"/>
        </a:p>
      </dgm:t>
    </dgm:pt>
    <dgm:pt modelId="{D8CB79C6-9A9C-4D65-9346-84920CEDDA7F}" type="sibTrans" cxnId="{03437FE9-B3EF-4989-B725-B9E94C55429A}">
      <dgm:prSet/>
      <dgm:spPr/>
      <dgm:t>
        <a:bodyPr/>
        <a:lstStyle/>
        <a:p>
          <a:endParaRPr lang="en-US"/>
        </a:p>
      </dgm:t>
    </dgm:pt>
    <dgm:pt modelId="{76110205-D369-4F3B-B0AE-71986BE206C6}">
      <dgm:prSet/>
      <dgm:spPr/>
      <dgm:t>
        <a:bodyPr/>
        <a:lstStyle/>
        <a:p>
          <a:r>
            <a:rPr lang="pl-PL"/>
            <a:t>Bardziej zaawansowane metody konfiguracji tonacji</a:t>
          </a:r>
          <a:endParaRPr lang="en-US"/>
        </a:p>
      </dgm:t>
    </dgm:pt>
    <dgm:pt modelId="{AF06B18D-8495-4069-8B8D-C29BEA5F2714}" type="parTrans" cxnId="{F66CCA1E-0F8D-42E4-8138-FBCDCBB17CEE}">
      <dgm:prSet/>
      <dgm:spPr/>
      <dgm:t>
        <a:bodyPr/>
        <a:lstStyle/>
        <a:p>
          <a:endParaRPr lang="en-US"/>
        </a:p>
      </dgm:t>
    </dgm:pt>
    <dgm:pt modelId="{E7029044-5B6E-47FA-A169-55948D1C69EF}" type="sibTrans" cxnId="{F66CCA1E-0F8D-42E4-8138-FBCDCBB17CEE}">
      <dgm:prSet/>
      <dgm:spPr/>
      <dgm:t>
        <a:bodyPr/>
        <a:lstStyle/>
        <a:p>
          <a:endParaRPr lang="en-US"/>
        </a:p>
      </dgm:t>
    </dgm:pt>
    <dgm:pt modelId="{415CFCB0-D460-40CE-94AF-14102789833D}">
      <dgm:prSet/>
      <dgm:spPr/>
      <dgm:t>
        <a:bodyPr/>
        <a:lstStyle/>
        <a:p>
          <a:r>
            <a:rPr lang="pl-PL"/>
            <a:t>Analiza metrum</a:t>
          </a:r>
          <a:endParaRPr lang="en-US"/>
        </a:p>
      </dgm:t>
    </dgm:pt>
    <dgm:pt modelId="{91D66DFB-9AAA-4ACE-9AE7-C32DB3C8FAC4}" type="parTrans" cxnId="{2601112E-A358-48E7-A785-50A41B3173D1}">
      <dgm:prSet/>
      <dgm:spPr/>
      <dgm:t>
        <a:bodyPr/>
        <a:lstStyle/>
        <a:p>
          <a:endParaRPr lang="en-US"/>
        </a:p>
      </dgm:t>
    </dgm:pt>
    <dgm:pt modelId="{B169A93F-994E-4D82-A235-1B6AB1D68F24}" type="sibTrans" cxnId="{2601112E-A358-48E7-A785-50A41B3173D1}">
      <dgm:prSet/>
      <dgm:spPr/>
      <dgm:t>
        <a:bodyPr/>
        <a:lstStyle/>
        <a:p>
          <a:endParaRPr lang="en-US"/>
        </a:p>
      </dgm:t>
    </dgm:pt>
    <dgm:pt modelId="{46EEC6C0-8603-4210-AAAC-87FC84B0D9A0}">
      <dgm:prSet/>
      <dgm:spPr/>
      <dgm:t>
        <a:bodyPr/>
        <a:lstStyle/>
        <a:p>
          <a:r>
            <a:rPr lang="pl-PL"/>
            <a:t>Polifonia, analiza harmoniczna, akcenty, itd.</a:t>
          </a:r>
          <a:endParaRPr lang="en-US"/>
        </a:p>
      </dgm:t>
    </dgm:pt>
    <dgm:pt modelId="{6F1C768C-F20F-4FAF-8830-A6C4B9DA3187}" type="parTrans" cxnId="{F10A0426-CEE6-4748-AF1D-1EFCAEAEF629}">
      <dgm:prSet/>
      <dgm:spPr/>
      <dgm:t>
        <a:bodyPr/>
        <a:lstStyle/>
        <a:p>
          <a:endParaRPr lang="en-US"/>
        </a:p>
      </dgm:t>
    </dgm:pt>
    <dgm:pt modelId="{320E73EA-8DCF-4603-A1E1-545087202854}" type="sibTrans" cxnId="{F10A0426-CEE6-4748-AF1D-1EFCAEAEF629}">
      <dgm:prSet/>
      <dgm:spPr/>
      <dgm:t>
        <a:bodyPr/>
        <a:lstStyle/>
        <a:p>
          <a:endParaRPr lang="en-US"/>
        </a:p>
      </dgm:t>
    </dgm:pt>
    <dgm:pt modelId="{3D441A18-26DE-47F6-B0B8-A7671338C2CA}" type="pres">
      <dgm:prSet presAssocID="{0BDB67F2-854A-453C-9240-CF5D1F3DC7DF}" presName="root" presStyleCnt="0">
        <dgm:presLayoutVars>
          <dgm:dir/>
          <dgm:resizeHandles val="exact"/>
        </dgm:presLayoutVars>
      </dgm:prSet>
      <dgm:spPr/>
    </dgm:pt>
    <dgm:pt modelId="{3F88E6B6-647F-461F-AA1B-F9D148908E2F}" type="pres">
      <dgm:prSet presAssocID="{33F1F323-1BB7-4FDA-B8E8-55F9003A5236}" presName="compNode" presStyleCnt="0"/>
      <dgm:spPr/>
    </dgm:pt>
    <dgm:pt modelId="{B74FC34A-935D-47A8-B681-02DB5E973495}" type="pres">
      <dgm:prSet presAssocID="{33F1F323-1BB7-4FDA-B8E8-55F9003A523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B3660A95-316F-4D78-94D3-7E79436CDB7F}" type="pres">
      <dgm:prSet presAssocID="{33F1F323-1BB7-4FDA-B8E8-55F9003A5236}" presName="spaceRect" presStyleCnt="0"/>
      <dgm:spPr/>
    </dgm:pt>
    <dgm:pt modelId="{1454AA2A-CE51-4B1A-95FF-78DA02901E09}" type="pres">
      <dgm:prSet presAssocID="{33F1F323-1BB7-4FDA-B8E8-55F9003A5236}" presName="textRect" presStyleLbl="revTx" presStyleIdx="0" presStyleCnt="5">
        <dgm:presLayoutVars>
          <dgm:chMax val="1"/>
          <dgm:chPref val="1"/>
        </dgm:presLayoutVars>
      </dgm:prSet>
      <dgm:spPr/>
    </dgm:pt>
    <dgm:pt modelId="{D7F6E9AF-5D59-42D3-8316-E4754ED823B2}" type="pres">
      <dgm:prSet presAssocID="{DBE64A2D-802B-4FDB-A860-F2CF3B000BDE}" presName="sibTrans" presStyleCnt="0"/>
      <dgm:spPr/>
    </dgm:pt>
    <dgm:pt modelId="{66A13B32-983B-4DAE-BD62-88596C330A05}" type="pres">
      <dgm:prSet presAssocID="{F4DA39D3-A29B-487F-8A6E-90643D3A43FA}" presName="compNode" presStyleCnt="0"/>
      <dgm:spPr/>
    </dgm:pt>
    <dgm:pt modelId="{8DC929B3-2E62-4CB2-B343-823525031DF2}" type="pres">
      <dgm:prSet presAssocID="{F4DA39D3-A29B-487F-8A6E-90643D3A43FA}"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lasa"/>
        </a:ext>
      </dgm:extLst>
    </dgm:pt>
    <dgm:pt modelId="{6C0B6D48-DE4B-437E-95E8-0458434DC175}" type="pres">
      <dgm:prSet presAssocID="{F4DA39D3-A29B-487F-8A6E-90643D3A43FA}" presName="spaceRect" presStyleCnt="0"/>
      <dgm:spPr/>
    </dgm:pt>
    <dgm:pt modelId="{1FE092E7-C5E8-46A9-B873-CDC48B9CC825}" type="pres">
      <dgm:prSet presAssocID="{F4DA39D3-A29B-487F-8A6E-90643D3A43FA}" presName="textRect" presStyleLbl="revTx" presStyleIdx="1" presStyleCnt="5">
        <dgm:presLayoutVars>
          <dgm:chMax val="1"/>
          <dgm:chPref val="1"/>
        </dgm:presLayoutVars>
      </dgm:prSet>
      <dgm:spPr/>
    </dgm:pt>
    <dgm:pt modelId="{A678B48A-D839-4AF6-AC35-E71139684048}" type="pres">
      <dgm:prSet presAssocID="{D8CB79C6-9A9C-4D65-9346-84920CEDDA7F}" presName="sibTrans" presStyleCnt="0"/>
      <dgm:spPr/>
    </dgm:pt>
    <dgm:pt modelId="{F9E98DB9-5ED7-41BB-81F5-45A569913057}" type="pres">
      <dgm:prSet presAssocID="{76110205-D369-4F3B-B0AE-71986BE206C6}" presName="compNode" presStyleCnt="0"/>
      <dgm:spPr/>
    </dgm:pt>
    <dgm:pt modelId="{59CFD1EA-04C5-4D89-A7B8-97258C22D3B6}" type="pres">
      <dgm:prSet presAssocID="{76110205-D369-4F3B-B0AE-71986BE206C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oła zębate"/>
        </a:ext>
      </dgm:extLst>
    </dgm:pt>
    <dgm:pt modelId="{B9B1FD17-0EAC-47D6-B513-DD70454154ED}" type="pres">
      <dgm:prSet presAssocID="{76110205-D369-4F3B-B0AE-71986BE206C6}" presName="spaceRect" presStyleCnt="0"/>
      <dgm:spPr/>
    </dgm:pt>
    <dgm:pt modelId="{BCB61783-B9D2-43EC-BD50-29EAEB77FCF9}" type="pres">
      <dgm:prSet presAssocID="{76110205-D369-4F3B-B0AE-71986BE206C6}" presName="textRect" presStyleLbl="revTx" presStyleIdx="2" presStyleCnt="5">
        <dgm:presLayoutVars>
          <dgm:chMax val="1"/>
          <dgm:chPref val="1"/>
        </dgm:presLayoutVars>
      </dgm:prSet>
      <dgm:spPr/>
    </dgm:pt>
    <dgm:pt modelId="{29E26429-0625-4531-A9BF-D13CA3F903DC}" type="pres">
      <dgm:prSet presAssocID="{E7029044-5B6E-47FA-A169-55948D1C69EF}" presName="sibTrans" presStyleCnt="0"/>
      <dgm:spPr/>
    </dgm:pt>
    <dgm:pt modelId="{D8408294-0BE3-4EC3-9E54-F4A6A9173355}" type="pres">
      <dgm:prSet presAssocID="{415CFCB0-D460-40CE-94AF-14102789833D}" presName="compNode" presStyleCnt="0"/>
      <dgm:spPr/>
    </dgm:pt>
    <dgm:pt modelId="{E6CF5FAF-124D-4B18-A69C-6B037A7E54A6}" type="pres">
      <dgm:prSet presAssocID="{415CFCB0-D460-40CE-94AF-14102789833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01B7ED6-4932-4D06-BD20-11A2D56A5F6D}" type="pres">
      <dgm:prSet presAssocID="{415CFCB0-D460-40CE-94AF-14102789833D}" presName="spaceRect" presStyleCnt="0"/>
      <dgm:spPr/>
    </dgm:pt>
    <dgm:pt modelId="{49C7A062-44A1-4D8B-87BA-A2C3CD9F50B7}" type="pres">
      <dgm:prSet presAssocID="{415CFCB0-D460-40CE-94AF-14102789833D}" presName="textRect" presStyleLbl="revTx" presStyleIdx="3" presStyleCnt="5">
        <dgm:presLayoutVars>
          <dgm:chMax val="1"/>
          <dgm:chPref val="1"/>
        </dgm:presLayoutVars>
      </dgm:prSet>
      <dgm:spPr/>
    </dgm:pt>
    <dgm:pt modelId="{60A40C82-C700-4CDF-B94E-A17EC296EBE1}" type="pres">
      <dgm:prSet presAssocID="{B169A93F-994E-4D82-A235-1B6AB1D68F24}" presName="sibTrans" presStyleCnt="0"/>
      <dgm:spPr/>
    </dgm:pt>
    <dgm:pt modelId="{6F44E29A-128F-430C-AA25-7940F2B4BDC3}" type="pres">
      <dgm:prSet presAssocID="{46EEC6C0-8603-4210-AAAC-87FC84B0D9A0}" presName="compNode" presStyleCnt="0"/>
      <dgm:spPr/>
    </dgm:pt>
    <dgm:pt modelId="{B572884B-64DA-423C-889D-DEDCF612759D}" type="pres">
      <dgm:prSet presAssocID="{46EEC6C0-8603-4210-AAAC-87FC84B0D9A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ęben"/>
        </a:ext>
      </dgm:extLst>
    </dgm:pt>
    <dgm:pt modelId="{5FF953B7-F1D9-4F1B-8C65-C91FA41B2CEB}" type="pres">
      <dgm:prSet presAssocID="{46EEC6C0-8603-4210-AAAC-87FC84B0D9A0}" presName="spaceRect" presStyleCnt="0"/>
      <dgm:spPr/>
    </dgm:pt>
    <dgm:pt modelId="{F16F11E4-2BF3-4CE1-999F-B7901873D364}" type="pres">
      <dgm:prSet presAssocID="{46EEC6C0-8603-4210-AAAC-87FC84B0D9A0}" presName="textRect" presStyleLbl="revTx" presStyleIdx="4" presStyleCnt="5">
        <dgm:presLayoutVars>
          <dgm:chMax val="1"/>
          <dgm:chPref val="1"/>
        </dgm:presLayoutVars>
      </dgm:prSet>
      <dgm:spPr/>
    </dgm:pt>
  </dgm:ptLst>
  <dgm:cxnLst>
    <dgm:cxn modelId="{F66CCA1E-0F8D-42E4-8138-FBCDCBB17CEE}" srcId="{0BDB67F2-854A-453C-9240-CF5D1F3DC7DF}" destId="{76110205-D369-4F3B-B0AE-71986BE206C6}" srcOrd="2" destOrd="0" parTransId="{AF06B18D-8495-4069-8B8D-C29BEA5F2714}" sibTransId="{E7029044-5B6E-47FA-A169-55948D1C69EF}"/>
    <dgm:cxn modelId="{F10A0426-CEE6-4748-AF1D-1EFCAEAEF629}" srcId="{0BDB67F2-854A-453C-9240-CF5D1F3DC7DF}" destId="{46EEC6C0-8603-4210-AAAC-87FC84B0D9A0}" srcOrd="4" destOrd="0" parTransId="{6F1C768C-F20F-4FAF-8830-A6C4B9DA3187}" sibTransId="{320E73EA-8DCF-4603-A1E1-545087202854}"/>
    <dgm:cxn modelId="{2601112E-A358-48E7-A785-50A41B3173D1}" srcId="{0BDB67F2-854A-453C-9240-CF5D1F3DC7DF}" destId="{415CFCB0-D460-40CE-94AF-14102789833D}" srcOrd="3" destOrd="0" parTransId="{91D66DFB-9AAA-4ACE-9AE7-C32DB3C8FAC4}" sibTransId="{B169A93F-994E-4D82-A235-1B6AB1D68F24}"/>
    <dgm:cxn modelId="{7FE70740-9AC2-4E06-BE2C-1ABC34A723F1}" type="presOf" srcId="{46EEC6C0-8603-4210-AAAC-87FC84B0D9A0}" destId="{F16F11E4-2BF3-4CE1-999F-B7901873D364}" srcOrd="0" destOrd="0" presId="urn:microsoft.com/office/officeart/2018/2/layout/IconLabelList"/>
    <dgm:cxn modelId="{67DFD144-1E23-4F5E-B18E-7EC12CFA08E2}" type="presOf" srcId="{33F1F323-1BB7-4FDA-B8E8-55F9003A5236}" destId="{1454AA2A-CE51-4B1A-95FF-78DA02901E09}" srcOrd="0" destOrd="0" presId="urn:microsoft.com/office/officeart/2018/2/layout/IconLabelList"/>
    <dgm:cxn modelId="{5E9C4A6B-1099-4C02-A902-33862DFE7711}" srcId="{0BDB67F2-854A-453C-9240-CF5D1F3DC7DF}" destId="{33F1F323-1BB7-4FDA-B8E8-55F9003A5236}" srcOrd="0" destOrd="0" parTransId="{53AA8A6D-CD8E-444D-9C75-E09443A143F6}" sibTransId="{DBE64A2D-802B-4FDB-A860-F2CF3B000BDE}"/>
    <dgm:cxn modelId="{BEC6FD70-FC6D-437A-83AE-CD9F822936EB}" type="presOf" srcId="{76110205-D369-4F3B-B0AE-71986BE206C6}" destId="{BCB61783-B9D2-43EC-BD50-29EAEB77FCF9}" srcOrd="0" destOrd="0" presId="urn:microsoft.com/office/officeart/2018/2/layout/IconLabelList"/>
    <dgm:cxn modelId="{D9C823D1-99F3-4492-88C8-5683671C2547}" type="presOf" srcId="{0BDB67F2-854A-453C-9240-CF5D1F3DC7DF}" destId="{3D441A18-26DE-47F6-B0B8-A7671338C2CA}" srcOrd="0" destOrd="0" presId="urn:microsoft.com/office/officeart/2018/2/layout/IconLabelList"/>
    <dgm:cxn modelId="{DA7D61E6-1AB3-4DC9-BACC-C586F4B98305}" type="presOf" srcId="{415CFCB0-D460-40CE-94AF-14102789833D}" destId="{49C7A062-44A1-4D8B-87BA-A2C3CD9F50B7}" srcOrd="0" destOrd="0" presId="urn:microsoft.com/office/officeart/2018/2/layout/IconLabelList"/>
    <dgm:cxn modelId="{03437FE9-B3EF-4989-B725-B9E94C55429A}" srcId="{0BDB67F2-854A-453C-9240-CF5D1F3DC7DF}" destId="{F4DA39D3-A29B-487F-8A6E-90643D3A43FA}" srcOrd="1" destOrd="0" parTransId="{8FB8AC22-A7F2-4198-B18C-4ABB47A5F408}" sibTransId="{D8CB79C6-9A9C-4D65-9346-84920CEDDA7F}"/>
    <dgm:cxn modelId="{1B7CEAE9-3D0C-4CED-A2F1-E5D5A40AB287}" type="presOf" srcId="{F4DA39D3-A29B-487F-8A6E-90643D3A43FA}" destId="{1FE092E7-C5E8-46A9-B873-CDC48B9CC825}" srcOrd="0" destOrd="0" presId="urn:microsoft.com/office/officeart/2018/2/layout/IconLabelList"/>
    <dgm:cxn modelId="{1E0C5988-E8F7-434C-BBEA-81ECE2B99821}" type="presParOf" srcId="{3D441A18-26DE-47F6-B0B8-A7671338C2CA}" destId="{3F88E6B6-647F-461F-AA1B-F9D148908E2F}" srcOrd="0" destOrd="0" presId="urn:microsoft.com/office/officeart/2018/2/layout/IconLabelList"/>
    <dgm:cxn modelId="{D4D3E36B-8B3E-498B-9290-E30C00B22F4E}" type="presParOf" srcId="{3F88E6B6-647F-461F-AA1B-F9D148908E2F}" destId="{B74FC34A-935D-47A8-B681-02DB5E973495}" srcOrd="0" destOrd="0" presId="urn:microsoft.com/office/officeart/2018/2/layout/IconLabelList"/>
    <dgm:cxn modelId="{A15E8115-EE35-4B18-94DA-E0FC589E321E}" type="presParOf" srcId="{3F88E6B6-647F-461F-AA1B-F9D148908E2F}" destId="{B3660A95-316F-4D78-94D3-7E79436CDB7F}" srcOrd="1" destOrd="0" presId="urn:microsoft.com/office/officeart/2018/2/layout/IconLabelList"/>
    <dgm:cxn modelId="{1C5B0D39-9ACA-4F7C-9BA2-D2D767A34699}" type="presParOf" srcId="{3F88E6B6-647F-461F-AA1B-F9D148908E2F}" destId="{1454AA2A-CE51-4B1A-95FF-78DA02901E09}" srcOrd="2" destOrd="0" presId="urn:microsoft.com/office/officeart/2018/2/layout/IconLabelList"/>
    <dgm:cxn modelId="{1702675B-36EF-4F9E-9EB3-8D8ACF53419D}" type="presParOf" srcId="{3D441A18-26DE-47F6-B0B8-A7671338C2CA}" destId="{D7F6E9AF-5D59-42D3-8316-E4754ED823B2}" srcOrd="1" destOrd="0" presId="urn:microsoft.com/office/officeart/2018/2/layout/IconLabelList"/>
    <dgm:cxn modelId="{9B2A510E-51EB-4775-9AC7-ED2A66FC8635}" type="presParOf" srcId="{3D441A18-26DE-47F6-B0B8-A7671338C2CA}" destId="{66A13B32-983B-4DAE-BD62-88596C330A05}" srcOrd="2" destOrd="0" presId="urn:microsoft.com/office/officeart/2018/2/layout/IconLabelList"/>
    <dgm:cxn modelId="{8C306D0E-E587-4909-A100-6AAB2F810F89}" type="presParOf" srcId="{66A13B32-983B-4DAE-BD62-88596C330A05}" destId="{8DC929B3-2E62-4CB2-B343-823525031DF2}" srcOrd="0" destOrd="0" presId="urn:microsoft.com/office/officeart/2018/2/layout/IconLabelList"/>
    <dgm:cxn modelId="{097D5A83-F580-441D-A182-EBCDD4C45089}" type="presParOf" srcId="{66A13B32-983B-4DAE-BD62-88596C330A05}" destId="{6C0B6D48-DE4B-437E-95E8-0458434DC175}" srcOrd="1" destOrd="0" presId="urn:microsoft.com/office/officeart/2018/2/layout/IconLabelList"/>
    <dgm:cxn modelId="{C5991ED4-4219-40D7-8FEF-0612A37554C9}" type="presParOf" srcId="{66A13B32-983B-4DAE-BD62-88596C330A05}" destId="{1FE092E7-C5E8-46A9-B873-CDC48B9CC825}" srcOrd="2" destOrd="0" presId="urn:microsoft.com/office/officeart/2018/2/layout/IconLabelList"/>
    <dgm:cxn modelId="{8D87D78B-6484-4ABC-B796-EEB4BDA45FF5}" type="presParOf" srcId="{3D441A18-26DE-47F6-B0B8-A7671338C2CA}" destId="{A678B48A-D839-4AF6-AC35-E71139684048}" srcOrd="3" destOrd="0" presId="urn:microsoft.com/office/officeart/2018/2/layout/IconLabelList"/>
    <dgm:cxn modelId="{DC3AC859-EB8D-401D-B35B-A0D6E2B2F34F}" type="presParOf" srcId="{3D441A18-26DE-47F6-B0B8-A7671338C2CA}" destId="{F9E98DB9-5ED7-41BB-81F5-45A569913057}" srcOrd="4" destOrd="0" presId="urn:microsoft.com/office/officeart/2018/2/layout/IconLabelList"/>
    <dgm:cxn modelId="{04210218-8DBE-47A2-9A3C-EF4FD72299D8}" type="presParOf" srcId="{F9E98DB9-5ED7-41BB-81F5-45A569913057}" destId="{59CFD1EA-04C5-4D89-A7B8-97258C22D3B6}" srcOrd="0" destOrd="0" presId="urn:microsoft.com/office/officeart/2018/2/layout/IconLabelList"/>
    <dgm:cxn modelId="{1CCD7984-956D-40B3-AF7B-1269DA85905B}" type="presParOf" srcId="{F9E98DB9-5ED7-41BB-81F5-45A569913057}" destId="{B9B1FD17-0EAC-47D6-B513-DD70454154ED}" srcOrd="1" destOrd="0" presId="urn:microsoft.com/office/officeart/2018/2/layout/IconLabelList"/>
    <dgm:cxn modelId="{30A22735-5DBA-4583-A0CD-F2EC2B698E2F}" type="presParOf" srcId="{F9E98DB9-5ED7-41BB-81F5-45A569913057}" destId="{BCB61783-B9D2-43EC-BD50-29EAEB77FCF9}" srcOrd="2" destOrd="0" presId="urn:microsoft.com/office/officeart/2018/2/layout/IconLabelList"/>
    <dgm:cxn modelId="{1C79CD85-CF34-436E-BBA4-E13099D19207}" type="presParOf" srcId="{3D441A18-26DE-47F6-B0B8-A7671338C2CA}" destId="{29E26429-0625-4531-A9BF-D13CA3F903DC}" srcOrd="5" destOrd="0" presId="urn:microsoft.com/office/officeart/2018/2/layout/IconLabelList"/>
    <dgm:cxn modelId="{A3300D5A-456E-45A6-97E0-59E5DA7BF615}" type="presParOf" srcId="{3D441A18-26DE-47F6-B0B8-A7671338C2CA}" destId="{D8408294-0BE3-4EC3-9E54-F4A6A9173355}" srcOrd="6" destOrd="0" presId="urn:microsoft.com/office/officeart/2018/2/layout/IconLabelList"/>
    <dgm:cxn modelId="{6B11D3E2-7517-41B6-B9D3-90BA7E736946}" type="presParOf" srcId="{D8408294-0BE3-4EC3-9E54-F4A6A9173355}" destId="{E6CF5FAF-124D-4B18-A69C-6B037A7E54A6}" srcOrd="0" destOrd="0" presId="urn:microsoft.com/office/officeart/2018/2/layout/IconLabelList"/>
    <dgm:cxn modelId="{D6851B95-8991-442B-95D3-B2BE0429BC76}" type="presParOf" srcId="{D8408294-0BE3-4EC3-9E54-F4A6A9173355}" destId="{501B7ED6-4932-4D06-BD20-11A2D56A5F6D}" srcOrd="1" destOrd="0" presId="urn:microsoft.com/office/officeart/2018/2/layout/IconLabelList"/>
    <dgm:cxn modelId="{6D9DBB8A-8AF5-4435-A879-92A9DA36129B}" type="presParOf" srcId="{D8408294-0BE3-4EC3-9E54-F4A6A9173355}" destId="{49C7A062-44A1-4D8B-87BA-A2C3CD9F50B7}" srcOrd="2" destOrd="0" presId="urn:microsoft.com/office/officeart/2018/2/layout/IconLabelList"/>
    <dgm:cxn modelId="{C00471EB-8F28-444C-9689-FB52B7FB2905}" type="presParOf" srcId="{3D441A18-26DE-47F6-B0B8-A7671338C2CA}" destId="{60A40C82-C700-4CDF-B94E-A17EC296EBE1}" srcOrd="7" destOrd="0" presId="urn:microsoft.com/office/officeart/2018/2/layout/IconLabelList"/>
    <dgm:cxn modelId="{ECC12609-066D-4BC5-9523-144B90494B93}" type="presParOf" srcId="{3D441A18-26DE-47F6-B0B8-A7671338C2CA}" destId="{6F44E29A-128F-430C-AA25-7940F2B4BDC3}" srcOrd="8" destOrd="0" presId="urn:microsoft.com/office/officeart/2018/2/layout/IconLabelList"/>
    <dgm:cxn modelId="{B7B77760-817D-47BB-B0D6-F43B1851D65A}" type="presParOf" srcId="{6F44E29A-128F-430C-AA25-7940F2B4BDC3}" destId="{B572884B-64DA-423C-889D-DEDCF612759D}" srcOrd="0" destOrd="0" presId="urn:microsoft.com/office/officeart/2018/2/layout/IconLabelList"/>
    <dgm:cxn modelId="{7A3011A0-F352-41B5-B021-5FF280B1F000}" type="presParOf" srcId="{6F44E29A-128F-430C-AA25-7940F2B4BDC3}" destId="{5FF953B7-F1D9-4F1B-8C65-C91FA41B2CEB}" srcOrd="1" destOrd="0" presId="urn:microsoft.com/office/officeart/2018/2/layout/IconLabelList"/>
    <dgm:cxn modelId="{2EB32C61-CECD-49EE-B31C-CAAE29DB0183}" type="presParOf" srcId="{6F44E29A-128F-430C-AA25-7940F2B4BDC3}" destId="{F16F11E4-2BF3-4CE1-999F-B7901873D36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4689D-62BF-419E-B874-C1380DA61B27}">
      <dsp:nvSpPr>
        <dsp:cNvPr id="0" name=""/>
        <dsp:cNvSpPr/>
      </dsp:nvSpPr>
      <dsp:spPr>
        <a:xfrm>
          <a:off x="0" y="671"/>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E9D7CE-2D35-456C-9192-BDFD794A35FB}">
      <dsp:nvSpPr>
        <dsp:cNvPr id="0" name=""/>
        <dsp:cNvSpPr/>
      </dsp:nvSpPr>
      <dsp:spPr>
        <a:xfrm>
          <a:off x="475163" y="354098"/>
          <a:ext cx="863933" cy="8639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E0F612-4162-4017-84D4-C1139ED3E575}">
      <dsp:nvSpPr>
        <dsp:cNvPr id="0" name=""/>
        <dsp:cNvSpPr/>
      </dsp:nvSpPr>
      <dsp:spPr>
        <a:xfrm>
          <a:off x="1814259" y="671"/>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800100" rtl="0">
            <a:lnSpc>
              <a:spcPct val="100000"/>
            </a:lnSpc>
            <a:spcBef>
              <a:spcPct val="0"/>
            </a:spcBef>
            <a:spcAft>
              <a:spcPct val="35000"/>
            </a:spcAft>
            <a:buNone/>
          </a:pPr>
          <a:r>
            <a:rPr lang="pl-PL" sz="1800" kern="1200"/>
            <a:t>Zaimplementowany system pozwala na generacje prostych, monofonicznych melodii bez znacznego dysonansu i kompletnego rytmicznego chaosu.</a:t>
          </a:r>
          <a:endParaRPr lang="en-US" sz="1800" kern="1200">
            <a:latin typeface="Univers Condensed"/>
          </a:endParaRPr>
        </a:p>
      </dsp:txBody>
      <dsp:txXfrm>
        <a:off x="1814259" y="671"/>
        <a:ext cx="4357688" cy="1570787"/>
      </dsp:txXfrm>
    </dsp:sp>
    <dsp:sp modelId="{F0E46123-A3C4-4150-B708-3F9E51A9B90B}">
      <dsp:nvSpPr>
        <dsp:cNvPr id="0" name=""/>
        <dsp:cNvSpPr/>
      </dsp:nvSpPr>
      <dsp:spPr>
        <a:xfrm>
          <a:off x="0" y="1964156"/>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95C91F-B743-4205-9DA2-9962E0D79D4F}">
      <dsp:nvSpPr>
        <dsp:cNvPr id="0" name=""/>
        <dsp:cNvSpPr/>
      </dsp:nvSpPr>
      <dsp:spPr>
        <a:xfrm>
          <a:off x="475163" y="2317583"/>
          <a:ext cx="863933" cy="863933"/>
        </a:xfrm>
        <a:prstGeom prst="rect">
          <a:avLst/>
        </a:prstGeom>
        <a:solidFill>
          <a:schemeClr val="accent3">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B0AE1A-2C5A-4296-BA33-2C51B3A44392}">
      <dsp:nvSpPr>
        <dsp:cNvPr id="0" name=""/>
        <dsp:cNvSpPr/>
      </dsp:nvSpPr>
      <dsp:spPr>
        <a:xfrm>
          <a:off x="1814259" y="1964156"/>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800100">
            <a:lnSpc>
              <a:spcPct val="100000"/>
            </a:lnSpc>
            <a:spcBef>
              <a:spcPct val="0"/>
            </a:spcBef>
            <a:spcAft>
              <a:spcPct val="35000"/>
            </a:spcAft>
            <a:buNone/>
          </a:pPr>
          <a:r>
            <a:rPr lang="pl-PL" sz="1800" kern="1200"/>
            <a:t>Można zaobserwować pewne podobne i </a:t>
          </a:r>
          <a:r>
            <a:rPr lang="pl-PL" sz="1800" kern="1200">
              <a:latin typeface="Univers Condensed"/>
            </a:rPr>
            <a:t>powtarzające</a:t>
          </a:r>
          <a:r>
            <a:rPr lang="pl-PL" sz="1800" kern="1200"/>
            <a:t> się motywy i frazy w różnych utworach. </a:t>
          </a:r>
        </a:p>
      </dsp:txBody>
      <dsp:txXfrm>
        <a:off x="1814259" y="1964156"/>
        <a:ext cx="4357688" cy="1570787"/>
      </dsp:txXfrm>
    </dsp:sp>
    <dsp:sp modelId="{CE44948D-D9C4-4289-860B-EA8C0B321C0D}">
      <dsp:nvSpPr>
        <dsp:cNvPr id="0" name=""/>
        <dsp:cNvSpPr/>
      </dsp:nvSpPr>
      <dsp:spPr>
        <a:xfrm>
          <a:off x="0" y="3927640"/>
          <a:ext cx="6171948" cy="15707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1F7AE9-5C7A-42B9-8EB3-1266DEBF9EC6}">
      <dsp:nvSpPr>
        <dsp:cNvPr id="0" name=""/>
        <dsp:cNvSpPr/>
      </dsp:nvSpPr>
      <dsp:spPr>
        <a:xfrm>
          <a:off x="475163" y="4281068"/>
          <a:ext cx="863933" cy="8639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9CBE9D-9B68-4983-B5E8-0994C8148A66}">
      <dsp:nvSpPr>
        <dsp:cNvPr id="0" name=""/>
        <dsp:cNvSpPr/>
      </dsp:nvSpPr>
      <dsp:spPr>
        <a:xfrm>
          <a:off x="1814259" y="3927640"/>
          <a:ext cx="4357688" cy="1570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242" tIns="166242" rIns="166242" bIns="166242" numCol="1" spcCol="1270" anchor="ctr" anchorCtr="0">
          <a:noAutofit/>
        </a:bodyPr>
        <a:lstStyle/>
        <a:p>
          <a:pPr marL="0" lvl="0" indent="0" algn="l" defTabSz="800100">
            <a:lnSpc>
              <a:spcPct val="100000"/>
            </a:lnSpc>
            <a:spcBef>
              <a:spcPct val="0"/>
            </a:spcBef>
            <a:spcAft>
              <a:spcPct val="35000"/>
            </a:spcAft>
            <a:buNone/>
          </a:pPr>
          <a:r>
            <a:rPr lang="pl-PL" sz="1800" kern="1200"/>
            <a:t>Tempa spoza zakresu 50-150 BPM powodowały generację nienaturalnie brzmiących melodii.</a:t>
          </a:r>
          <a:endParaRPr lang="en-US" sz="1800" kern="1200"/>
        </a:p>
      </dsp:txBody>
      <dsp:txXfrm>
        <a:off x="1814259" y="3927640"/>
        <a:ext cx="4357688" cy="1570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FC34A-935D-47A8-B681-02DB5E973495}">
      <dsp:nvSpPr>
        <dsp:cNvPr id="0" name=""/>
        <dsp:cNvSpPr/>
      </dsp:nvSpPr>
      <dsp:spPr>
        <a:xfrm>
          <a:off x="710905" y="969969"/>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54AA2A-CE51-4B1A-95FF-78DA02901E09}">
      <dsp:nvSpPr>
        <dsp:cNvPr id="0" name=""/>
        <dsp:cNvSpPr/>
      </dsp:nvSpPr>
      <dsp:spPr>
        <a:xfrm>
          <a:off x="215905" y="20501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l-PL" sz="1400" kern="1200"/>
            <a:t>Zwiększenie zbioru danych treningowych</a:t>
          </a:r>
          <a:endParaRPr lang="en-US" sz="1400" kern="1200"/>
        </a:p>
      </dsp:txBody>
      <dsp:txXfrm>
        <a:off x="215905" y="2050180"/>
        <a:ext cx="1800000" cy="720000"/>
      </dsp:txXfrm>
    </dsp:sp>
    <dsp:sp modelId="{8DC929B3-2E62-4CB2-B343-823525031DF2}">
      <dsp:nvSpPr>
        <dsp:cNvPr id="0" name=""/>
        <dsp:cNvSpPr/>
      </dsp:nvSpPr>
      <dsp:spPr>
        <a:xfrm>
          <a:off x="2825905" y="969969"/>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E092E7-C5E8-46A9-B873-CDC48B9CC825}">
      <dsp:nvSpPr>
        <dsp:cNvPr id="0" name=""/>
        <dsp:cNvSpPr/>
      </dsp:nvSpPr>
      <dsp:spPr>
        <a:xfrm>
          <a:off x="2330905" y="20501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l-PL" sz="1400" kern="1200"/>
            <a:t>Uczenie modelu konkretnych wydarzeń muzycznych</a:t>
          </a:r>
          <a:endParaRPr lang="en-US" sz="1400" kern="1200"/>
        </a:p>
      </dsp:txBody>
      <dsp:txXfrm>
        <a:off x="2330905" y="2050180"/>
        <a:ext cx="1800000" cy="720000"/>
      </dsp:txXfrm>
    </dsp:sp>
    <dsp:sp modelId="{59CFD1EA-04C5-4D89-A7B8-97258C22D3B6}">
      <dsp:nvSpPr>
        <dsp:cNvPr id="0" name=""/>
        <dsp:cNvSpPr/>
      </dsp:nvSpPr>
      <dsp:spPr>
        <a:xfrm>
          <a:off x="4940905" y="969969"/>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1783-B9D2-43EC-BD50-29EAEB77FCF9}">
      <dsp:nvSpPr>
        <dsp:cNvPr id="0" name=""/>
        <dsp:cNvSpPr/>
      </dsp:nvSpPr>
      <dsp:spPr>
        <a:xfrm>
          <a:off x="4445905" y="20501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l-PL" sz="1400" kern="1200"/>
            <a:t>Bardziej zaawansowane metody konfiguracji tonacji</a:t>
          </a:r>
          <a:endParaRPr lang="en-US" sz="1400" kern="1200"/>
        </a:p>
      </dsp:txBody>
      <dsp:txXfrm>
        <a:off x="4445905" y="2050180"/>
        <a:ext cx="1800000" cy="720000"/>
      </dsp:txXfrm>
    </dsp:sp>
    <dsp:sp modelId="{E6CF5FAF-124D-4B18-A69C-6B037A7E54A6}">
      <dsp:nvSpPr>
        <dsp:cNvPr id="0" name=""/>
        <dsp:cNvSpPr/>
      </dsp:nvSpPr>
      <dsp:spPr>
        <a:xfrm>
          <a:off x="7055906" y="969969"/>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C7A062-44A1-4D8B-87BA-A2C3CD9F50B7}">
      <dsp:nvSpPr>
        <dsp:cNvPr id="0" name=""/>
        <dsp:cNvSpPr/>
      </dsp:nvSpPr>
      <dsp:spPr>
        <a:xfrm>
          <a:off x="6560905" y="20501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l-PL" sz="1400" kern="1200"/>
            <a:t>Analiza metrum</a:t>
          </a:r>
          <a:endParaRPr lang="en-US" sz="1400" kern="1200"/>
        </a:p>
      </dsp:txBody>
      <dsp:txXfrm>
        <a:off x="6560905" y="2050180"/>
        <a:ext cx="1800000" cy="720000"/>
      </dsp:txXfrm>
    </dsp:sp>
    <dsp:sp modelId="{B572884B-64DA-423C-889D-DEDCF612759D}">
      <dsp:nvSpPr>
        <dsp:cNvPr id="0" name=""/>
        <dsp:cNvSpPr/>
      </dsp:nvSpPr>
      <dsp:spPr>
        <a:xfrm>
          <a:off x="9170906" y="969969"/>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6F11E4-2BF3-4CE1-999F-B7901873D364}">
      <dsp:nvSpPr>
        <dsp:cNvPr id="0" name=""/>
        <dsp:cNvSpPr/>
      </dsp:nvSpPr>
      <dsp:spPr>
        <a:xfrm>
          <a:off x="8675906" y="20501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pl-PL" sz="1400" kern="1200"/>
            <a:t>Polifonia, analiza harmoniczna, akcenty, itd.</a:t>
          </a:r>
          <a:endParaRPr lang="en-US" sz="1400" kern="1200"/>
        </a:p>
      </dsp:txBody>
      <dsp:txXfrm>
        <a:off x="8675906" y="2050180"/>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6/16/2026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965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6/16/2026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83040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6/16/2026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3302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6/16/2026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29785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6/16/2026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16707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6/16/2026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1016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6/16/2026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28360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6/16/2026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16729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6/16/2026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72293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6/16/2026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1136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6/16/2026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08312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6/16/2026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00663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p:cNvSpPr>
            <a:spLocks noGrp="1"/>
          </p:cNvSpPr>
          <p:nvPr>
            <p:ph type="ctrTitle"/>
          </p:nvPr>
        </p:nvSpPr>
        <p:spPr>
          <a:xfrm>
            <a:off x="5604552" y="871758"/>
            <a:ext cx="5825448" cy="3871143"/>
          </a:xfrm>
        </p:spPr>
        <p:txBody>
          <a:bodyPr vert="horz" lIns="91440" tIns="45720" rIns="91440" bIns="45720" rtlCol="0">
            <a:normAutofit/>
          </a:bodyPr>
          <a:lstStyle/>
          <a:p>
            <a:pPr>
              <a:lnSpc>
                <a:spcPct val="90000"/>
              </a:lnSpc>
            </a:pPr>
            <a:r>
              <a:rPr lang="pl-PL" sz="5000">
                <a:highlight>
                  <a:srgbClr val="FFFFFF"/>
                </a:highlight>
                <a:latin typeface="Aptos"/>
                <a:ea typeface="Calibri"/>
                <a:cs typeface="Calibri"/>
              </a:rPr>
              <a:t>Generator melodii MIDI z wykorzystaniem sieci neuronowych</a:t>
            </a:r>
          </a:p>
        </p:txBody>
      </p:sp>
      <p:sp>
        <p:nvSpPr>
          <p:cNvPr id="3" name="Podtytuł 2"/>
          <p:cNvSpPr>
            <a:spLocks noGrp="1"/>
          </p:cNvSpPr>
          <p:nvPr>
            <p:ph type="subTitle" idx="1"/>
          </p:nvPr>
        </p:nvSpPr>
        <p:spPr>
          <a:xfrm>
            <a:off x="5619964" y="4785543"/>
            <a:ext cx="5322013" cy="1005657"/>
          </a:xfrm>
        </p:spPr>
        <p:txBody>
          <a:bodyPr vert="horz" lIns="91440" tIns="45720" rIns="91440" bIns="45720" rtlCol="0">
            <a:normAutofit/>
          </a:bodyPr>
          <a:lstStyle/>
          <a:p>
            <a:r>
              <a:rPr lang="pl-PL"/>
              <a:t>Daniel Augusto, Patryk Tomkowicz, Jakub Warakomski</a:t>
            </a:r>
          </a:p>
          <a:p>
            <a:endParaRPr lang="pl-PL" dirty="0"/>
          </a:p>
        </p:txBody>
      </p:sp>
      <p:pic>
        <p:nvPicPr>
          <p:cNvPr id="21" name="Picture 3">
            <a:extLst>
              <a:ext uri="{FF2B5EF4-FFF2-40B4-BE49-F238E27FC236}">
                <a16:creationId xmlns:a16="http://schemas.microsoft.com/office/drawing/2014/main" id="{83FD361D-5192-4AE0-B3AB-704838B49B74}"/>
              </a:ext>
            </a:extLst>
          </p:cNvPr>
          <p:cNvPicPr>
            <a:picLocks noChangeAspect="1"/>
          </p:cNvPicPr>
          <p:nvPr/>
        </p:nvPicPr>
        <p:blipFill>
          <a:blip r:embed="rId2"/>
          <a:srcRect l="46112" r="3608" b="-4"/>
          <a:stretch>
            <a:fillRect/>
          </a:stretch>
        </p:blipFill>
        <p:spPr>
          <a:xfrm>
            <a:off x="1" y="10"/>
            <a:ext cx="4876799" cy="6857989"/>
          </a:xfrm>
          <a:prstGeom prst="rect">
            <a:avLst/>
          </a:prstGeom>
        </p:spPr>
      </p:pic>
      <p:cxnSp>
        <p:nvCxnSpPr>
          <p:cNvPr id="22"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031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84865BD-BD68-5FB7-501D-32E1757FF060}"/>
              </a:ext>
            </a:extLst>
          </p:cNvPr>
          <p:cNvSpPr>
            <a:spLocks noGrp="1"/>
          </p:cNvSpPr>
          <p:nvPr>
            <p:ph type="title"/>
          </p:nvPr>
        </p:nvSpPr>
        <p:spPr>
          <a:xfrm>
            <a:off x="700088" y="909637"/>
            <a:ext cx="6400800" cy="1307592"/>
          </a:xfrm>
        </p:spPr>
        <p:txBody>
          <a:bodyPr>
            <a:normAutofit/>
          </a:bodyPr>
          <a:lstStyle/>
          <a:p>
            <a:r>
              <a:rPr lang="pl-PL"/>
              <a:t>CELE PROJEKTU</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04A4D640-7B80-8617-1B7B-0C55724F49BF}"/>
              </a:ext>
            </a:extLst>
          </p:cNvPr>
          <p:cNvSpPr>
            <a:spLocks noGrp="1"/>
          </p:cNvSpPr>
          <p:nvPr>
            <p:ph idx="1"/>
          </p:nvPr>
        </p:nvSpPr>
        <p:spPr>
          <a:xfrm>
            <a:off x="700088" y="2221992"/>
            <a:ext cx="6400800" cy="3739896"/>
          </a:xfrm>
        </p:spPr>
        <p:txBody>
          <a:bodyPr vert="horz" lIns="91440" tIns="45720" rIns="91440" bIns="45720" rtlCol="0">
            <a:normAutofit/>
          </a:bodyPr>
          <a:lstStyle/>
          <a:p>
            <a:r>
              <a:rPr lang="pl-PL">
                <a:latin typeface="Aptos"/>
                <a:ea typeface="+mn-lt"/>
                <a:cs typeface="+mn-lt"/>
              </a:rPr>
              <a:t>Celem projektu było stworzenie modelu LSTM (Long Short-Term Memory) oraz wytrenowanie go na zestawie danych: plikach MIDI zawierających tylko jeden instrument (pianino). Następnie zaimplementowano tworzenie plików MIDI reprezentujących sekwencję dźwięków wygenerowanych przez model zgodnie z kryteriami zadanymi przez użytkownika: tempo, tonacja, metrum oraz długość utworu (wyrażona w taktach).</a:t>
            </a:r>
            <a:endParaRPr lang="pl-PL">
              <a:latin typeface="Aptos"/>
            </a:endParaRPr>
          </a:p>
        </p:txBody>
      </p:sp>
      <p:pic>
        <p:nvPicPr>
          <p:cNvPr id="7" name="Graphic 6" descr="DJ">
            <a:extLst>
              <a:ext uri="{FF2B5EF4-FFF2-40B4-BE49-F238E27FC236}">
                <a16:creationId xmlns:a16="http://schemas.microsoft.com/office/drawing/2014/main" id="{72BDE935-4DBB-C78E-D47B-1CE3031C75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8387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6B3CA38D-7BB0-4D35-BE00-0F4876602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D0DDAF0-6A46-9DBD-7B2A-3791437D2F38}"/>
              </a:ext>
            </a:extLst>
          </p:cNvPr>
          <p:cNvSpPr>
            <a:spLocks noGrp="1"/>
          </p:cNvSpPr>
          <p:nvPr>
            <p:ph type="title"/>
          </p:nvPr>
        </p:nvSpPr>
        <p:spPr>
          <a:xfrm>
            <a:off x="700635" y="913218"/>
            <a:ext cx="10691265" cy="1371030"/>
          </a:xfrm>
        </p:spPr>
        <p:txBody>
          <a:bodyPr>
            <a:normAutofit/>
          </a:bodyPr>
          <a:lstStyle/>
          <a:p>
            <a:r>
              <a:rPr lang="pl-PL"/>
              <a:t>Sieć LSTM</a:t>
            </a:r>
          </a:p>
        </p:txBody>
      </p:sp>
      <p:sp>
        <p:nvSpPr>
          <p:cNvPr id="3" name="Symbol zastępczy zawartości 2">
            <a:extLst>
              <a:ext uri="{FF2B5EF4-FFF2-40B4-BE49-F238E27FC236}">
                <a16:creationId xmlns:a16="http://schemas.microsoft.com/office/drawing/2014/main" id="{8FF3D0FC-F03E-76B3-4696-018EFC46E069}"/>
              </a:ext>
            </a:extLst>
          </p:cNvPr>
          <p:cNvSpPr>
            <a:spLocks noGrp="1"/>
          </p:cNvSpPr>
          <p:nvPr>
            <p:ph idx="1"/>
          </p:nvPr>
        </p:nvSpPr>
        <p:spPr>
          <a:xfrm>
            <a:off x="700635" y="2221992"/>
            <a:ext cx="10691265" cy="3739896"/>
          </a:xfrm>
        </p:spPr>
        <p:txBody>
          <a:bodyPr vert="horz" lIns="91440" tIns="45720" rIns="91440" bIns="45720" rtlCol="0" anchor="t">
            <a:normAutofit/>
          </a:bodyPr>
          <a:lstStyle/>
          <a:p>
            <a:r>
              <a:rPr lang="pl-PL">
                <a:latin typeface="Aptos"/>
                <a:ea typeface="+mn-lt"/>
                <a:cs typeface="+mn-lt"/>
              </a:rPr>
              <a:t>Wybór implementacji naszego modelu z wykorzystaniem sieci neuronowych typu LSTM był spowodowany tym, że tego rodzaju sieć jest dobrze dostosowana do analizy i przetwarzania danych sekwencyjnych - którymi w tym przypadku są dane z plików MIDI. Kontekst muzyczny melodii oznacza, że nuty nie mogą być analizowane jako niezależne. Każda kolejna nuta jest zależna od wcześniejszej sekwencji. LSTM dzięki mechanizmom pamięci i bramek wejścia, wyjścia i zapominania potrafi uczyć się zależności pomiędzy zdarzeniami muzycznymi, a także decydować, które informacje z poprzedniego stanu są najbardziej istotne.</a:t>
            </a:r>
            <a:endParaRPr lang="pl-PL">
              <a:latin typeface="Aptos"/>
            </a:endParaRPr>
          </a:p>
        </p:txBody>
      </p:sp>
      <p:cxnSp>
        <p:nvCxnSpPr>
          <p:cNvPr id="21" name="Straight Connector 9">
            <a:extLst>
              <a:ext uri="{FF2B5EF4-FFF2-40B4-BE49-F238E27FC236}">
                <a16:creationId xmlns:a16="http://schemas.microsoft.com/office/drawing/2014/main" id="{4514FD1B-A0BF-4C73-A68E-4B1F7299F6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B100A6-1EBC-40AB-BB7E-26807F3CF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679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7255AFF-B102-04D4-9D61-EDC59A65D962}"/>
              </a:ext>
            </a:extLst>
          </p:cNvPr>
          <p:cNvSpPr>
            <a:spLocks noGrp="1"/>
          </p:cNvSpPr>
          <p:nvPr>
            <p:ph type="title"/>
          </p:nvPr>
        </p:nvSpPr>
        <p:spPr>
          <a:xfrm>
            <a:off x="4866968" y="914400"/>
            <a:ext cx="6627924" cy="1307592"/>
          </a:xfrm>
        </p:spPr>
        <p:txBody>
          <a:bodyPr>
            <a:normAutofit/>
          </a:bodyPr>
          <a:lstStyle/>
          <a:p>
            <a:r>
              <a:rPr lang="pl-PL">
                <a:ea typeface="+mj-lt"/>
                <a:cs typeface="+mj-lt"/>
              </a:rPr>
              <a:t>BAZA DANYCH</a:t>
            </a:r>
            <a:endParaRPr lang="pl-PL"/>
          </a:p>
        </p:txBody>
      </p:sp>
      <p:pic>
        <p:nvPicPr>
          <p:cNvPr id="5" name="Picture 4" descr="Osoba w kolorze ogniowym">
            <a:extLst>
              <a:ext uri="{FF2B5EF4-FFF2-40B4-BE49-F238E27FC236}">
                <a16:creationId xmlns:a16="http://schemas.microsoft.com/office/drawing/2014/main" id="{D4DA7606-7539-DF2F-3FED-45DA8156816D}"/>
              </a:ext>
            </a:extLst>
          </p:cNvPr>
          <p:cNvPicPr>
            <a:picLocks noChangeAspect="1"/>
          </p:cNvPicPr>
          <p:nvPr/>
        </p:nvPicPr>
        <p:blipFill>
          <a:blip r:embed="rId2"/>
          <a:srcRect l="17190" r="40182" b="-9"/>
          <a:stretch>
            <a:fillRect/>
          </a:stretch>
        </p:blipFill>
        <p:spPr>
          <a:xfrm>
            <a:off x="20" y="-17929"/>
            <a:ext cx="4206220" cy="6875929"/>
          </a:xfrm>
          <a:prstGeom prst="rect">
            <a:avLst/>
          </a:prstGeom>
        </p:spPr>
      </p:pic>
      <p:cxnSp>
        <p:nvCxnSpPr>
          <p:cNvPr id="11" name="Straight Connector 10">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D1BAF5E-F037-3B62-2F73-E156FD0FB506}"/>
              </a:ext>
            </a:extLst>
          </p:cNvPr>
          <p:cNvSpPr>
            <a:spLocks noGrp="1"/>
          </p:cNvSpPr>
          <p:nvPr>
            <p:ph idx="1"/>
          </p:nvPr>
        </p:nvSpPr>
        <p:spPr>
          <a:xfrm>
            <a:off x="4866968" y="2221992"/>
            <a:ext cx="6627924" cy="3739896"/>
          </a:xfrm>
        </p:spPr>
        <p:txBody>
          <a:bodyPr vert="horz" lIns="91440" tIns="45720" rIns="91440" bIns="45720" rtlCol="0">
            <a:normAutofit/>
          </a:bodyPr>
          <a:lstStyle/>
          <a:p>
            <a:r>
              <a:rPr lang="pl-PL"/>
              <a:t>Przygotowano bazę danych wejściowych, skłądającą się z 300 ponumerowanych plików MIDI, reprezentujących melodie zagrane na pojedynczym instrumencie: pianinie. </a:t>
            </a:r>
          </a:p>
        </p:txBody>
      </p:sp>
      <p:cxnSp>
        <p:nvCxnSpPr>
          <p:cNvPr id="13" name="Straight Connector 12">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888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CF2B507-5333-9B9C-6518-2F64EC864530}"/>
              </a:ext>
            </a:extLst>
          </p:cNvPr>
          <p:cNvSpPr>
            <a:spLocks noGrp="1"/>
          </p:cNvSpPr>
          <p:nvPr>
            <p:ph type="title"/>
          </p:nvPr>
        </p:nvSpPr>
        <p:spPr>
          <a:xfrm>
            <a:off x="700088" y="909637"/>
            <a:ext cx="6400800" cy="1307592"/>
          </a:xfrm>
        </p:spPr>
        <p:txBody>
          <a:bodyPr>
            <a:normAutofit/>
          </a:bodyPr>
          <a:lstStyle/>
          <a:p>
            <a:r>
              <a:rPr lang="pl-PL">
                <a:ea typeface="+mj-lt"/>
                <a:cs typeface="+mj-lt"/>
              </a:rPr>
              <a:t>Wczytanie danych</a:t>
            </a:r>
            <a:endParaRPr lang="pl-PL"/>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ECD9C523-8ED6-1CF9-89AF-0BC62404E48A}"/>
              </a:ext>
            </a:extLst>
          </p:cNvPr>
          <p:cNvSpPr>
            <a:spLocks noGrp="1"/>
          </p:cNvSpPr>
          <p:nvPr>
            <p:ph idx="1"/>
          </p:nvPr>
        </p:nvSpPr>
        <p:spPr>
          <a:xfrm>
            <a:off x="700088" y="2221992"/>
            <a:ext cx="6400800" cy="3739896"/>
          </a:xfrm>
        </p:spPr>
        <p:txBody>
          <a:bodyPr vert="horz" lIns="91440" tIns="45720" rIns="91440" bIns="45720" rtlCol="0">
            <a:normAutofit/>
          </a:bodyPr>
          <a:lstStyle/>
          <a:p>
            <a:pPr>
              <a:lnSpc>
                <a:spcPct val="100000"/>
              </a:lnSpc>
            </a:pPr>
            <a:r>
              <a:rPr lang="pl-PL" sz="1900">
                <a:latin typeface="Aptos"/>
                <a:ea typeface="+mn-lt"/>
                <a:cs typeface="+mn-lt"/>
              </a:rPr>
              <a:t>Aby rozpocząć przetwarzanie danych, najpierw należało zaimplementować algorytm parsowania wczytanego pliku MIDI. Ponieważ ścieżki MIDI mogą zawierać metadane, szukano w pliku ścieżek zawierających wiadomości note_on z polem velocity &gt; 0. Kiedy wyznaczona zostanie ścieżka zawierająca melodię, algorytm przechodzi do analizowania sekwencji wiadomości. Skorzystano tutaj z biblioteki music21, która parsuje pauzy i dźwięki. Ponieważ, dla poprawy jakości generowania melodii, zmodyfikowano wszystkie utwory do postaci monofonicznej, po wykryciu akordu algorytm wybiera najwyższy dźwięk. </a:t>
            </a:r>
            <a:endParaRPr lang="pl-PL" sz="1900">
              <a:latin typeface="Aptos"/>
            </a:endParaRPr>
          </a:p>
        </p:txBody>
      </p:sp>
      <p:pic>
        <p:nvPicPr>
          <p:cNvPr id="7" name="Graphic 6" descr="Rekord">
            <a:extLst>
              <a:ext uri="{FF2B5EF4-FFF2-40B4-BE49-F238E27FC236}">
                <a16:creationId xmlns:a16="http://schemas.microsoft.com/office/drawing/2014/main" id="{838A9944-C965-CA13-9FBB-A958785D81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2778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160DA6A-845E-FB1C-FD3F-1813699764F1}"/>
              </a:ext>
            </a:extLst>
          </p:cNvPr>
          <p:cNvSpPr>
            <a:spLocks noGrp="1"/>
          </p:cNvSpPr>
          <p:nvPr>
            <p:ph type="title"/>
          </p:nvPr>
        </p:nvSpPr>
        <p:spPr>
          <a:xfrm>
            <a:off x="704088" y="914400"/>
            <a:ext cx="5195889" cy="1316736"/>
          </a:xfrm>
        </p:spPr>
        <p:txBody>
          <a:bodyPr>
            <a:normAutofit/>
          </a:bodyPr>
          <a:lstStyle/>
          <a:p>
            <a:r>
              <a:rPr lang="pl-PL">
                <a:ea typeface="+mj-lt"/>
                <a:cs typeface="+mj-lt"/>
              </a:rPr>
              <a:t>Oznaczenia nut</a:t>
            </a:r>
            <a:endParaRPr lang="pl-PL"/>
          </a:p>
          <a:p>
            <a:endParaRPr lang="pl-PL" dirty="0">
              <a:latin typeface="Univers Condensed"/>
            </a:endParaRPr>
          </a:p>
        </p:txBody>
      </p:sp>
      <p:cxnSp>
        <p:nvCxnSpPr>
          <p:cNvPr id="11" name="Straight Connector 10">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A116E35B-8FC5-1AD2-6BBC-A3082E80DA64}"/>
              </a:ext>
            </a:extLst>
          </p:cNvPr>
          <p:cNvSpPr>
            <a:spLocks noGrp="1"/>
          </p:cNvSpPr>
          <p:nvPr>
            <p:ph idx="1"/>
          </p:nvPr>
        </p:nvSpPr>
        <p:spPr>
          <a:xfrm>
            <a:off x="704088" y="2231136"/>
            <a:ext cx="5195889" cy="3931920"/>
          </a:xfrm>
        </p:spPr>
        <p:txBody>
          <a:bodyPr vert="horz" lIns="91440" tIns="45720" rIns="91440" bIns="45720" rtlCol="0" anchor="t">
            <a:normAutofit/>
          </a:bodyPr>
          <a:lstStyle/>
          <a:p>
            <a:r>
              <a:rPr lang="pl-PL">
                <a:latin typeface="Aptos"/>
                <a:ea typeface="+mn-lt"/>
                <a:cs typeface="+mn-lt"/>
              </a:rPr>
              <a:t>W przypadku wysokości dźwięku, z wiadomości MIDI wystarczy pobrać wartość pola pitch, która mapuje wysokości tonów od C w oktawie "-2" do F#/Fis w oktawie 8. W przypadku długości dźwięków, należy dokonać kwantyzacji do standardowych długości wykorzysytywanych w notacji muzycznej. Długość każdej wiadomości note_on jest przypisywana do najbliższej zdefiniowanej długości dźwięku.</a:t>
            </a:r>
            <a:endParaRPr lang="pl-PL">
              <a:latin typeface="Aptos"/>
            </a:endParaRPr>
          </a:p>
        </p:txBody>
      </p:sp>
      <p:pic>
        <p:nvPicPr>
          <p:cNvPr id="4" name="Obraz 3" descr="Obraz zawierający tekst, zrzut ekranu, Czcionka, design&#10;&#10;Zawartość wygenerowana przez AI może być niepoprawna.">
            <a:extLst>
              <a:ext uri="{FF2B5EF4-FFF2-40B4-BE49-F238E27FC236}">
                <a16:creationId xmlns:a16="http://schemas.microsoft.com/office/drawing/2014/main" id="{61CAC2B5-9CAD-858D-773C-0CAF1BE092A8}"/>
              </a:ext>
            </a:extLst>
          </p:cNvPr>
          <p:cNvPicPr>
            <a:picLocks noChangeAspect="1"/>
          </p:cNvPicPr>
          <p:nvPr/>
        </p:nvPicPr>
        <p:blipFill>
          <a:blip r:embed="rId2"/>
          <a:srcRect r="439" b="-2"/>
          <a:stretch>
            <a:fillRect/>
          </a:stretch>
        </p:blipFill>
        <p:spPr>
          <a:xfrm>
            <a:off x="6420752" y="-1"/>
            <a:ext cx="5771248" cy="6857999"/>
          </a:xfrm>
          <a:prstGeom prst="rect">
            <a:avLst/>
          </a:prstGeom>
        </p:spPr>
      </p:pic>
    </p:spTree>
    <p:extLst>
      <p:ext uri="{BB962C8B-B14F-4D97-AF65-F5344CB8AC3E}">
        <p14:creationId xmlns:p14="http://schemas.microsoft.com/office/powerpoint/2010/main" val="2202698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6BE45381-C848-D53A-48F3-02D2D9718694}"/>
              </a:ext>
            </a:extLst>
          </p:cNvPr>
          <p:cNvSpPr>
            <a:spLocks noGrp="1"/>
          </p:cNvSpPr>
          <p:nvPr>
            <p:ph type="title"/>
          </p:nvPr>
        </p:nvSpPr>
        <p:spPr>
          <a:xfrm>
            <a:off x="700088" y="909637"/>
            <a:ext cx="6400800" cy="1307592"/>
          </a:xfrm>
        </p:spPr>
        <p:txBody>
          <a:bodyPr>
            <a:normAutofit/>
          </a:bodyPr>
          <a:lstStyle/>
          <a:p>
            <a:r>
              <a:rPr lang="pl-PL"/>
              <a:t>GENEROWANIE  TOKENÓW</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472284A-99FE-5343-6379-3B8412381F4F}"/>
              </a:ext>
            </a:extLst>
          </p:cNvPr>
          <p:cNvSpPr>
            <a:spLocks noGrp="1"/>
          </p:cNvSpPr>
          <p:nvPr>
            <p:ph idx="1"/>
          </p:nvPr>
        </p:nvSpPr>
        <p:spPr>
          <a:xfrm>
            <a:off x="700088" y="2221992"/>
            <a:ext cx="6400800" cy="3739896"/>
          </a:xfrm>
        </p:spPr>
        <p:txBody>
          <a:bodyPr vert="horz" lIns="91440" tIns="45720" rIns="91440" bIns="45720" rtlCol="0">
            <a:normAutofit/>
          </a:bodyPr>
          <a:lstStyle/>
          <a:p>
            <a:r>
              <a:rPr lang="pl-PL">
                <a:latin typeface="Aptos"/>
                <a:ea typeface="+mn-lt"/>
                <a:cs typeface="+mn-lt"/>
              </a:rPr>
              <a:t>Podczas przetwarzania pliku, generowane są tokeny. Pierwszy z reprezentuje dźwięki w formacie wysokość_długość. Drugi reprezentuje pauzy w formacie pauza_długość. Trzeci reprezentuje koniec utworu - jest to token &lt;SONG_END&gt;. Kiedy cały utwór został przetworzony, na wyjściu otrzymywana jest lista event_tokens, przechowująca wszystkie uzyskane tokeny.</a:t>
            </a:r>
            <a:endParaRPr lang="pl-PL">
              <a:latin typeface="Aptos"/>
            </a:endParaRPr>
          </a:p>
          <a:p>
            <a:endParaRPr lang="pl-PL" dirty="0"/>
          </a:p>
        </p:txBody>
      </p:sp>
      <p:pic>
        <p:nvPicPr>
          <p:cNvPr id="7" name="Graphic 6" descr="Głos">
            <a:extLst>
              <a:ext uri="{FF2B5EF4-FFF2-40B4-BE49-F238E27FC236}">
                <a16:creationId xmlns:a16="http://schemas.microsoft.com/office/drawing/2014/main" id="{7BD6C97A-CF50-7EBD-DC7E-52162498EF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629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8C2816E-83F5-F396-4F65-0FDB54EDB9C4}"/>
              </a:ext>
            </a:extLst>
          </p:cNvPr>
          <p:cNvSpPr>
            <a:spLocks noGrp="1"/>
          </p:cNvSpPr>
          <p:nvPr>
            <p:ph type="title"/>
          </p:nvPr>
        </p:nvSpPr>
        <p:spPr>
          <a:xfrm>
            <a:off x="704087" y="559063"/>
            <a:ext cx="3306747" cy="5256025"/>
          </a:xfrm>
        </p:spPr>
        <p:txBody>
          <a:bodyPr>
            <a:normAutofit/>
          </a:bodyPr>
          <a:lstStyle/>
          <a:p>
            <a:r>
              <a:rPr lang="pl-PL" sz="3100"/>
              <a:t>PRZYGOTOWANIE DANYCH</a:t>
            </a:r>
          </a:p>
        </p:txBody>
      </p:sp>
      <p:sp>
        <p:nvSpPr>
          <p:cNvPr id="3" name="Symbol zastępczy zawartości 2">
            <a:extLst>
              <a:ext uri="{FF2B5EF4-FFF2-40B4-BE49-F238E27FC236}">
                <a16:creationId xmlns:a16="http://schemas.microsoft.com/office/drawing/2014/main" id="{9680077E-783A-F10E-3C44-1C0085E8AA23}"/>
              </a:ext>
            </a:extLst>
          </p:cNvPr>
          <p:cNvSpPr>
            <a:spLocks noGrp="1"/>
          </p:cNvSpPr>
          <p:nvPr>
            <p:ph idx="1"/>
          </p:nvPr>
        </p:nvSpPr>
        <p:spPr>
          <a:xfrm>
            <a:off x="4643022" y="622249"/>
            <a:ext cx="6844892" cy="5639712"/>
          </a:xfrm>
        </p:spPr>
        <p:txBody>
          <a:bodyPr vert="horz" lIns="91440" tIns="45720" rIns="91440" bIns="45720" rtlCol="0" anchor="t">
            <a:normAutofit/>
          </a:bodyPr>
          <a:lstStyle/>
          <a:p>
            <a:r>
              <a:rPr lang="pl-PL">
                <a:latin typeface="Aptos"/>
                <a:ea typeface="+mn-lt"/>
                <a:cs typeface="+mn-lt"/>
              </a:rPr>
              <a:t>Budowany jest zbiór tokenów all_events, przechowujące wszystkie unikalne tokeny uzyskane podczas przetwarzania wejściowych danych. Dwa pomocnicze słowniki event_to_int oraz int_to_event mapują tokeny ze zbioru na numery i odwrotnie. Lista encoded zawiera tokeny reprezentowane jako liczby całkowite. Wartość SEQ_LEN = 64 oznacza, że model widzi ostatnie 64 tokeny i dokonuje predykcji tokenu nr 65. Dane są przygotowane w postaci X, y - gdzie X oznacza sekwencję 64 tokenów a y oznacza faktyczną wartość tokenu następującego po tej sekwencji. Etykieta y jest kodowana metodą one-hot (na podstawie długości słownika), ponieważ wektor zwracany przez ostatnią warstwę modelu ma taką samą długość jak wygenerowany słownik tokenów.</a:t>
            </a:r>
            <a:endParaRPr lang="pl-PL">
              <a:latin typeface="Aptos"/>
            </a:endParaRPr>
          </a:p>
          <a:p>
            <a:endParaRPr lang="pl-PL" dirty="0"/>
          </a:p>
        </p:txBody>
      </p:sp>
      <p:cxnSp>
        <p:nvCxnSpPr>
          <p:cNvPr id="21"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68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 name="Straight Connector 9">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ytuł 1">
            <a:extLst>
              <a:ext uri="{FF2B5EF4-FFF2-40B4-BE49-F238E27FC236}">
                <a16:creationId xmlns:a16="http://schemas.microsoft.com/office/drawing/2014/main" id="{0335C19C-DD45-DA75-88A9-FA21036E1F41}"/>
              </a:ext>
            </a:extLst>
          </p:cNvPr>
          <p:cNvSpPr>
            <a:spLocks noGrp="1"/>
          </p:cNvSpPr>
          <p:nvPr>
            <p:ph type="title"/>
          </p:nvPr>
        </p:nvSpPr>
        <p:spPr>
          <a:xfrm>
            <a:off x="702129" y="914760"/>
            <a:ext cx="3678485" cy="3543764"/>
          </a:xfrm>
        </p:spPr>
        <p:txBody>
          <a:bodyPr>
            <a:normAutofit/>
          </a:bodyPr>
          <a:lstStyle/>
          <a:p>
            <a:r>
              <a:rPr lang="pl-PL" sz="3100">
                <a:ea typeface="+mj-lt"/>
                <a:cs typeface="+mj-lt"/>
              </a:rPr>
              <a:t>Charakterystyka modelu</a:t>
            </a:r>
            <a:endParaRPr lang="pl-PL" sz="3100"/>
          </a:p>
        </p:txBody>
      </p:sp>
      <p:sp>
        <p:nvSpPr>
          <p:cNvPr id="3" name="Symbol zastępczy zawartości 2">
            <a:extLst>
              <a:ext uri="{FF2B5EF4-FFF2-40B4-BE49-F238E27FC236}">
                <a16:creationId xmlns:a16="http://schemas.microsoft.com/office/drawing/2014/main" id="{50B98E03-329D-B52D-6E3B-A9C55CEC9166}"/>
              </a:ext>
            </a:extLst>
          </p:cNvPr>
          <p:cNvSpPr>
            <a:spLocks noGrp="1"/>
          </p:cNvSpPr>
          <p:nvPr>
            <p:ph idx="1"/>
          </p:nvPr>
        </p:nvSpPr>
        <p:spPr>
          <a:xfrm>
            <a:off x="4773168" y="993228"/>
            <a:ext cx="6720840" cy="4935981"/>
          </a:xfrm>
        </p:spPr>
        <p:txBody>
          <a:bodyPr vert="horz" lIns="91440" tIns="45720" rIns="91440" bIns="45720" rtlCol="0" anchor="t">
            <a:normAutofit/>
          </a:bodyPr>
          <a:lstStyle/>
          <a:p>
            <a:pPr>
              <a:lnSpc>
                <a:spcPct val="100000"/>
              </a:lnSpc>
            </a:pPr>
            <a:r>
              <a:rPr lang="pl-PL" sz="1700">
                <a:latin typeface="Aptos"/>
                <a:ea typeface="+mn-lt"/>
                <a:cs typeface="+mn-lt"/>
              </a:rPr>
              <a:t>Model składa się z trzech warstw. Warstwa Embedding reprezentuje każdy otrzymany token jako wektor 64 wartości liczbowych. Na początku liczby te są losowe, a podczas treningu aktualizowane są razem z wagami LSTM, na podstawie tego którego tokeny są podobne, występują razem albo pełnią podobną funkcję w sekwencji. Warstwa sieci LSTM składa się ze 128 neuronów pamięci opisujących rytm, powtarzające się frazy i występujące dźwięki. Zastosowano 20% dropout w celu lepszej generalizacji oraz 20% rekurencyjny dropout, po to, aby model nauczył się zasad muzycznych zamiast samych melodii z zestawu uczącego. Warstwa zamienia 128-liczbowy wektor na 904 liczby, po jednej dla każdego tokenu. Za pomocą funkcji aktywacji softmax wyniki zamieniane są na rozkład prawdopodobieństwa. Funkcją staty jest kategoryczna entropia krzyżowa, ponieważ jest to problem klasyfikacji wieloklasowej.</a:t>
            </a:r>
            <a:endParaRPr lang="pl-PL" sz="1700">
              <a:latin typeface="Aptos"/>
            </a:endParaRPr>
          </a:p>
        </p:txBody>
      </p:sp>
    </p:spTree>
    <p:extLst>
      <p:ext uri="{BB962C8B-B14F-4D97-AF65-F5344CB8AC3E}">
        <p14:creationId xmlns:p14="http://schemas.microsoft.com/office/powerpoint/2010/main" val="1617298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6B3CA38D-7BB0-4D35-BE00-0F4876602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3B8B6435-3526-5A57-52E9-5BFB4CB66C2B}"/>
              </a:ext>
            </a:extLst>
          </p:cNvPr>
          <p:cNvSpPr>
            <a:spLocks noGrp="1"/>
          </p:cNvSpPr>
          <p:nvPr>
            <p:ph type="title"/>
          </p:nvPr>
        </p:nvSpPr>
        <p:spPr>
          <a:xfrm>
            <a:off x="700635" y="913218"/>
            <a:ext cx="10691265" cy="1371030"/>
          </a:xfrm>
        </p:spPr>
        <p:txBody>
          <a:bodyPr>
            <a:normAutofit/>
          </a:bodyPr>
          <a:lstStyle/>
          <a:p>
            <a:r>
              <a:rPr lang="pl-PL"/>
              <a:t>UCZENIE MODELU</a:t>
            </a:r>
          </a:p>
        </p:txBody>
      </p:sp>
      <p:sp>
        <p:nvSpPr>
          <p:cNvPr id="3" name="Symbol zastępczy zawartości 2">
            <a:extLst>
              <a:ext uri="{FF2B5EF4-FFF2-40B4-BE49-F238E27FC236}">
                <a16:creationId xmlns:a16="http://schemas.microsoft.com/office/drawing/2014/main" id="{BF0B2DA7-FAAE-690B-342E-63B6F3982B12}"/>
              </a:ext>
            </a:extLst>
          </p:cNvPr>
          <p:cNvSpPr>
            <a:spLocks noGrp="1"/>
          </p:cNvSpPr>
          <p:nvPr>
            <p:ph idx="1"/>
          </p:nvPr>
        </p:nvSpPr>
        <p:spPr>
          <a:xfrm>
            <a:off x="700635" y="2221992"/>
            <a:ext cx="10691265" cy="3739896"/>
          </a:xfrm>
        </p:spPr>
        <p:txBody>
          <a:bodyPr vert="horz" lIns="91440" tIns="45720" rIns="91440" bIns="45720" rtlCol="0" anchor="t">
            <a:normAutofit/>
          </a:bodyPr>
          <a:lstStyle/>
          <a:p>
            <a:r>
              <a:rPr lang="pl-PL">
                <a:latin typeface="Aptos"/>
                <a:ea typeface="+mn-lt"/>
                <a:cs typeface="+mn-lt"/>
              </a:rPr>
              <a:t>Podczas trenowania modelu stosowana jest metoda EarlyStopping, zapobiegająca przeuczeniu. Jeżeli błąd na zbiorze walidacyjnym (stanowiącym 20% zbioru uczącego) po trzech epokach nie poprawia się, to proces uczenia jest kończony. Maksymalna ilość epok wynosi 50. Przywracany jest zestaw najlepszych dotychczas uzyskanych wag. Dokładność uzyskana podczas trenowania naszego modelu wyniosła niemal 13%. Losowy klasyfikator przy 904 klasach uzyskiwałby teoretyczną dokładność równą ok. 0.11%.</a:t>
            </a:r>
            <a:endParaRPr lang="pl-PL">
              <a:latin typeface="Aptos"/>
            </a:endParaRPr>
          </a:p>
        </p:txBody>
      </p:sp>
      <p:cxnSp>
        <p:nvCxnSpPr>
          <p:cNvPr id="16" name="Straight Connector 9">
            <a:extLst>
              <a:ext uri="{FF2B5EF4-FFF2-40B4-BE49-F238E27FC236}">
                <a16:creationId xmlns:a16="http://schemas.microsoft.com/office/drawing/2014/main" id="{4514FD1B-A0BF-4C73-A68E-4B1F7299F6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1">
            <a:extLst>
              <a:ext uri="{FF2B5EF4-FFF2-40B4-BE49-F238E27FC236}">
                <a16:creationId xmlns:a16="http://schemas.microsoft.com/office/drawing/2014/main" id="{18B100A6-1EBC-40AB-BB7E-26807F3CF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449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D21B34A-71CB-4575-611C-93733F380A62}"/>
              </a:ext>
            </a:extLst>
          </p:cNvPr>
          <p:cNvSpPr>
            <a:spLocks noGrp="1"/>
          </p:cNvSpPr>
          <p:nvPr>
            <p:ph type="title"/>
          </p:nvPr>
        </p:nvSpPr>
        <p:spPr>
          <a:xfrm>
            <a:off x="704088" y="914400"/>
            <a:ext cx="6001512" cy="1307592"/>
          </a:xfrm>
        </p:spPr>
        <p:txBody>
          <a:bodyPr>
            <a:normAutofit/>
          </a:bodyPr>
          <a:lstStyle/>
          <a:p>
            <a:r>
              <a:rPr lang="pl-PL">
                <a:ea typeface="+mj-lt"/>
                <a:cs typeface="+mj-lt"/>
              </a:rPr>
              <a:t>Predykcja</a:t>
            </a:r>
          </a:p>
        </p:txBody>
      </p:sp>
      <p:cxnSp>
        <p:nvCxnSpPr>
          <p:cNvPr id="12" name="Straight Connector 11">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20598D68-EB2D-6292-C77C-28BDE21384EB}"/>
              </a:ext>
            </a:extLst>
          </p:cNvPr>
          <p:cNvSpPr>
            <a:spLocks noGrp="1"/>
          </p:cNvSpPr>
          <p:nvPr>
            <p:ph idx="1"/>
          </p:nvPr>
        </p:nvSpPr>
        <p:spPr>
          <a:xfrm>
            <a:off x="704088" y="2231136"/>
            <a:ext cx="6001512" cy="3931920"/>
          </a:xfrm>
        </p:spPr>
        <p:txBody>
          <a:bodyPr vert="horz" lIns="91440" tIns="45720" rIns="91440" bIns="45720" rtlCol="0">
            <a:normAutofit/>
          </a:bodyPr>
          <a:lstStyle/>
          <a:p>
            <a:pPr>
              <a:lnSpc>
                <a:spcPct val="100000"/>
              </a:lnSpc>
            </a:pPr>
            <a:r>
              <a:rPr lang="pl-PL">
                <a:latin typeface="Aptos"/>
                <a:ea typeface="+mn-lt"/>
                <a:cs typeface="+mn-lt"/>
              </a:rPr>
              <a:t>Po treningu modelu generowane są pojedyncze tokeny, każdy kolejny wykorzystywany do przewidywania następnego elementu sekwencji. Na wejściu otrzymywany jest wektor prawdopodobieństw tokenów. Zastosowano hiperparametr temperatury podczas próbkowania (Temperature Sampling), który wyznacza czy rozkład należy spłaszczyć (&gt; 1), nie zmeniać (= 1), lub uwypuklić różnice jeszcze bardziej (&lt; 1). W przypadku naszego modelu ustawiono temperature = 0.9, dzięki czemu model jest bardziej zachowawczy podczas generowania melodii. </a:t>
            </a:r>
            <a:endParaRPr lang="pl-PL">
              <a:latin typeface="Aptos"/>
            </a:endParaRPr>
          </a:p>
          <a:p>
            <a:pPr>
              <a:lnSpc>
                <a:spcPct val="100000"/>
              </a:lnSpc>
            </a:pPr>
            <a:endParaRPr lang="pl-PL"/>
          </a:p>
        </p:txBody>
      </p:sp>
      <p:pic>
        <p:nvPicPr>
          <p:cNvPr id="7" name="Graphic 6" descr="Statystyki">
            <a:extLst>
              <a:ext uri="{FF2B5EF4-FFF2-40B4-BE49-F238E27FC236}">
                <a16:creationId xmlns:a16="http://schemas.microsoft.com/office/drawing/2014/main" id="{01752475-5B80-C4F7-E9CB-25AAE41209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74560" y="1951854"/>
            <a:ext cx="4202057" cy="4202057"/>
          </a:xfrm>
          <a:prstGeom prst="rect">
            <a:avLst/>
          </a:prstGeom>
        </p:spPr>
      </p:pic>
    </p:spTree>
    <p:extLst>
      <p:ext uri="{BB962C8B-B14F-4D97-AF65-F5344CB8AC3E}">
        <p14:creationId xmlns:p14="http://schemas.microsoft.com/office/powerpoint/2010/main" val="4208835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66D7488-B22A-4027-C879-6002A76E8D95}"/>
              </a:ext>
            </a:extLst>
          </p:cNvPr>
          <p:cNvSpPr>
            <a:spLocks noGrp="1"/>
          </p:cNvSpPr>
          <p:nvPr>
            <p:ph type="title"/>
          </p:nvPr>
        </p:nvSpPr>
        <p:spPr>
          <a:xfrm>
            <a:off x="700088" y="909637"/>
            <a:ext cx="6400800" cy="1307592"/>
          </a:xfrm>
        </p:spPr>
        <p:txBody>
          <a:bodyPr>
            <a:normAutofit/>
          </a:bodyPr>
          <a:lstStyle/>
          <a:p>
            <a:r>
              <a:rPr lang="pl-PL">
                <a:ea typeface="+mj-lt"/>
                <a:cs typeface="+mj-lt"/>
              </a:rPr>
              <a:t>Karanie pauz</a:t>
            </a:r>
            <a:endParaRPr lang="pl-PL"/>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444C1E6C-139B-DD31-04D1-17CC265D5164}"/>
              </a:ext>
            </a:extLst>
          </p:cNvPr>
          <p:cNvSpPr>
            <a:spLocks noGrp="1"/>
          </p:cNvSpPr>
          <p:nvPr>
            <p:ph idx="1"/>
          </p:nvPr>
        </p:nvSpPr>
        <p:spPr>
          <a:xfrm>
            <a:off x="700088" y="2221992"/>
            <a:ext cx="6400800" cy="3739896"/>
          </a:xfrm>
        </p:spPr>
        <p:txBody>
          <a:bodyPr vert="horz" lIns="91440" tIns="45720" rIns="91440" bIns="45720" rtlCol="0" anchor="t">
            <a:normAutofit/>
          </a:bodyPr>
          <a:lstStyle/>
          <a:p>
            <a:pPr>
              <a:lnSpc>
                <a:spcPct val="100000"/>
              </a:lnSpc>
            </a:pPr>
            <a:r>
              <a:rPr lang="pl-PL" sz="1700">
                <a:latin typeface="Aptos"/>
                <a:ea typeface="+mn-lt"/>
                <a:cs typeface="+mn-lt"/>
              </a:rPr>
              <a:t>Podczas początkowych testów, zauważono, że wygenerowane melodie zawierają zbyt dużo pauz, przez co brzmią one nienaturalnie. Ponieważ token "REST" występuje zdecydowanie częściej niż poszczególne wysokości tonów w zbiorze testowym, zastosowano funkcję kary, aby obniżyć liczbę tokenów "REST" w wygenerowanych melodiach. Wszystkie warianty tokenów typu REST otrzymały 50% wyznaczonego prawdopodobieństwa. Dodatkowo, wprowadzono karę za pauzy występujące po sobie. Jeżeli poprzedni token był pauzą, to prawdopodobieństwo wszystkich tokenów reprezentujących pauzy spada do 20% oryginalnej wartości. Następnie dokonywana jest ponowna normalizacja prawdopodobieństw.</a:t>
            </a:r>
            <a:endParaRPr lang="pl-PL" sz="1700">
              <a:latin typeface="Aptos"/>
            </a:endParaRPr>
          </a:p>
          <a:p>
            <a:pPr>
              <a:lnSpc>
                <a:spcPct val="100000"/>
              </a:lnSpc>
            </a:pPr>
            <a:endParaRPr lang="pl-PL" sz="1700">
              <a:latin typeface="Aptos"/>
            </a:endParaRPr>
          </a:p>
        </p:txBody>
      </p:sp>
      <p:pic>
        <p:nvPicPr>
          <p:cNvPr id="7" name="Graphic 6" descr="Music Note">
            <a:extLst>
              <a:ext uri="{FF2B5EF4-FFF2-40B4-BE49-F238E27FC236}">
                <a16:creationId xmlns:a16="http://schemas.microsoft.com/office/drawing/2014/main" id="{8E0B7285-C0F2-68B2-525B-4FA69B4BBF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516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4">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ytuł 1">
            <a:extLst>
              <a:ext uri="{FF2B5EF4-FFF2-40B4-BE49-F238E27FC236}">
                <a16:creationId xmlns:a16="http://schemas.microsoft.com/office/drawing/2014/main" id="{03EA634B-F7C2-A912-F197-7D62A3FDAC03}"/>
              </a:ext>
            </a:extLst>
          </p:cNvPr>
          <p:cNvSpPr>
            <a:spLocks noGrp="1"/>
          </p:cNvSpPr>
          <p:nvPr>
            <p:ph type="title"/>
          </p:nvPr>
        </p:nvSpPr>
        <p:spPr>
          <a:xfrm>
            <a:off x="954823" y="2109493"/>
            <a:ext cx="4265763" cy="1441776"/>
          </a:xfrm>
        </p:spPr>
        <p:txBody>
          <a:bodyPr anchor="t">
            <a:normAutofit/>
          </a:bodyPr>
          <a:lstStyle/>
          <a:p>
            <a:r>
              <a:rPr lang="pl-PL">
                <a:ea typeface="+mj-lt"/>
                <a:cs typeface="+mj-lt"/>
              </a:rPr>
              <a:t>Generowanie sekwencji</a:t>
            </a:r>
            <a:endParaRPr lang="pl-PL"/>
          </a:p>
        </p:txBody>
      </p:sp>
      <p:sp>
        <p:nvSpPr>
          <p:cNvPr id="3" name="Symbol zastępczy zawartości 2">
            <a:extLst>
              <a:ext uri="{FF2B5EF4-FFF2-40B4-BE49-F238E27FC236}">
                <a16:creationId xmlns:a16="http://schemas.microsoft.com/office/drawing/2014/main" id="{94636EB5-3EE8-E118-24CB-CC693517B676}"/>
              </a:ext>
            </a:extLst>
          </p:cNvPr>
          <p:cNvSpPr>
            <a:spLocks noGrp="1"/>
          </p:cNvSpPr>
          <p:nvPr>
            <p:ph idx="1"/>
          </p:nvPr>
        </p:nvSpPr>
        <p:spPr>
          <a:xfrm>
            <a:off x="5871353" y="2200490"/>
            <a:ext cx="5269831" cy="3445399"/>
          </a:xfrm>
        </p:spPr>
        <p:txBody>
          <a:bodyPr vert="horz" lIns="91440" tIns="45720" rIns="91440" bIns="45720" rtlCol="0" anchor="t">
            <a:normAutofit/>
          </a:bodyPr>
          <a:lstStyle/>
          <a:p>
            <a:r>
              <a:rPr lang="pl-PL">
                <a:latin typeface="Aptos"/>
                <a:ea typeface="+mn-lt"/>
                <a:cs typeface="+mn-lt"/>
              </a:rPr>
              <a:t>W ramach generowania kolejnych elementów sekwencji, następny token losowany jest 10 najbardziej prawdopodobnych tokenów (top-k sampling). Dzięki losowemu wyborowi, model nie wybiera zawsze najlepszego tokenu, co sprawia, że melodie są mniej powtarzalne i przewidywalne. </a:t>
            </a:r>
            <a:endParaRPr lang="pl-PL">
              <a:latin typeface="Aptos"/>
            </a:endParaRPr>
          </a:p>
        </p:txBody>
      </p:sp>
      <p:cxnSp>
        <p:nvCxnSpPr>
          <p:cNvPr id="24" name="Straight Connector 16">
            <a:extLst>
              <a:ext uri="{FF2B5EF4-FFF2-40B4-BE49-F238E27FC236}">
                <a16:creationId xmlns:a16="http://schemas.microsoft.com/office/drawing/2014/main" id="{78F0A063-5253-8DF5-3B7B-12FE096705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7643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368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0A1D5D0-E000-8E9B-79A6-9206BD59F3B9}"/>
              </a:ext>
            </a:extLst>
          </p:cNvPr>
          <p:cNvSpPr>
            <a:spLocks noGrp="1"/>
          </p:cNvSpPr>
          <p:nvPr>
            <p:ph type="title"/>
          </p:nvPr>
        </p:nvSpPr>
        <p:spPr>
          <a:xfrm>
            <a:off x="704088" y="914400"/>
            <a:ext cx="4041648" cy="1928741"/>
          </a:xfrm>
        </p:spPr>
        <p:txBody>
          <a:bodyPr>
            <a:normAutofit/>
          </a:bodyPr>
          <a:lstStyle/>
          <a:p>
            <a:r>
              <a:rPr lang="pl-PL">
                <a:ea typeface="+mj-lt"/>
                <a:cs typeface="+mj-lt"/>
              </a:rPr>
              <a:t>Parametry utworu</a:t>
            </a:r>
          </a:p>
        </p:txBody>
      </p:sp>
      <p:cxnSp>
        <p:nvCxnSpPr>
          <p:cNvPr id="31" name="Straight Connector 26">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Graphic 21" descr="Music Notes">
            <a:extLst>
              <a:ext uri="{FF2B5EF4-FFF2-40B4-BE49-F238E27FC236}">
                <a16:creationId xmlns:a16="http://schemas.microsoft.com/office/drawing/2014/main" id="{25475882-B3C9-9878-D492-BA41BF17A6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1111" y="3046576"/>
            <a:ext cx="2969276" cy="2969276"/>
          </a:xfrm>
          <a:prstGeom prst="rect">
            <a:avLst/>
          </a:prstGeom>
        </p:spPr>
      </p:pic>
      <p:sp>
        <p:nvSpPr>
          <p:cNvPr id="3" name="Symbol zastępczy zawartości 2">
            <a:extLst>
              <a:ext uri="{FF2B5EF4-FFF2-40B4-BE49-F238E27FC236}">
                <a16:creationId xmlns:a16="http://schemas.microsoft.com/office/drawing/2014/main" id="{493CED4A-0DA3-3F48-0A96-5B8D1E08E213}"/>
              </a:ext>
            </a:extLst>
          </p:cNvPr>
          <p:cNvSpPr>
            <a:spLocks noGrp="1"/>
          </p:cNvSpPr>
          <p:nvPr>
            <p:ph idx="1"/>
          </p:nvPr>
        </p:nvSpPr>
        <p:spPr>
          <a:xfrm>
            <a:off x="5330952" y="968377"/>
            <a:ext cx="6144768" cy="5010912"/>
          </a:xfrm>
        </p:spPr>
        <p:txBody>
          <a:bodyPr vert="horz" lIns="91440" tIns="45720" rIns="91440" bIns="45720" rtlCol="0">
            <a:normAutofit/>
          </a:bodyPr>
          <a:lstStyle/>
          <a:p>
            <a:r>
              <a:rPr lang="pl-PL">
                <a:latin typeface="Aptos"/>
                <a:ea typeface="+mn-lt"/>
                <a:cs typeface="+mn-lt"/>
              </a:rPr>
              <a:t>Generowane melodie mogą zostać skonfigurowane w następujący sposób:</a:t>
            </a:r>
            <a:endParaRPr lang="pl-PL">
              <a:latin typeface="Aptos"/>
            </a:endParaRPr>
          </a:p>
          <a:p>
            <a:r>
              <a:rPr lang="pl-PL">
                <a:latin typeface="Aptos"/>
                <a:ea typeface="+mn-lt"/>
                <a:cs typeface="+mn-lt"/>
              </a:rPr>
              <a:t>Tempo</a:t>
            </a:r>
            <a:endParaRPr lang="pl-PL">
              <a:latin typeface="Aptos"/>
            </a:endParaRPr>
          </a:p>
          <a:p>
            <a:r>
              <a:rPr lang="pl-PL">
                <a:latin typeface="Aptos"/>
                <a:ea typeface="+mn-lt"/>
                <a:cs typeface="+mn-lt"/>
              </a:rPr>
              <a:t>Tonacja (transpozycja o określoną liczbę półtonów, tryb pozostaje domyślny)</a:t>
            </a:r>
            <a:endParaRPr lang="pl-PL">
              <a:latin typeface="Aptos"/>
            </a:endParaRPr>
          </a:p>
          <a:p>
            <a:r>
              <a:rPr lang="pl-PL">
                <a:latin typeface="Aptos"/>
                <a:ea typeface="+mn-lt"/>
                <a:cs typeface="+mn-lt"/>
              </a:rPr>
              <a:t>Długość utworu (w taktach)</a:t>
            </a:r>
            <a:endParaRPr lang="pl-PL">
              <a:latin typeface="Aptos"/>
            </a:endParaRPr>
          </a:p>
          <a:p>
            <a:r>
              <a:rPr lang="pl-PL">
                <a:latin typeface="Aptos"/>
                <a:ea typeface="+mn-lt"/>
                <a:cs typeface="+mn-lt"/>
              </a:rPr>
              <a:t>Metrum</a:t>
            </a:r>
            <a:endParaRPr lang="pl-PL">
              <a:latin typeface="Aptos"/>
            </a:endParaRPr>
          </a:p>
        </p:txBody>
      </p:sp>
      <p:cxnSp>
        <p:nvCxnSpPr>
          <p:cNvPr id="29" name="Straight Connector 28">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908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Zbliżenie klucza wiolinowego na arkuszu nut">
            <a:extLst>
              <a:ext uri="{FF2B5EF4-FFF2-40B4-BE49-F238E27FC236}">
                <a16:creationId xmlns:a16="http://schemas.microsoft.com/office/drawing/2014/main" id="{5447CB0E-CE39-4C5C-C692-810DDD1AB204}"/>
              </a:ext>
            </a:extLst>
          </p:cNvPr>
          <p:cNvPicPr>
            <a:picLocks noChangeAspect="1"/>
          </p:cNvPicPr>
          <p:nvPr/>
        </p:nvPicPr>
        <p:blipFill>
          <a:blip r:embed="rId2"/>
          <a:srcRect t="25000" r="-2" b="-2"/>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EF92B9FF-DA33-9FF3-F125-B21469091E88}"/>
              </a:ext>
            </a:extLst>
          </p:cNvPr>
          <p:cNvSpPr>
            <a:spLocks noGrp="1"/>
          </p:cNvSpPr>
          <p:nvPr>
            <p:ph type="title"/>
          </p:nvPr>
        </p:nvSpPr>
        <p:spPr>
          <a:xfrm>
            <a:off x="704088" y="871759"/>
            <a:ext cx="5067300" cy="3497042"/>
          </a:xfrm>
        </p:spPr>
        <p:txBody>
          <a:bodyPr vert="horz" lIns="91440" tIns="45720" rIns="91440" bIns="45720" rtlCol="0" anchor="t">
            <a:normAutofit/>
          </a:bodyPr>
          <a:lstStyle/>
          <a:p>
            <a:r>
              <a:rPr lang="en-US" sz="5000" dirty="0" err="1">
                <a:solidFill>
                  <a:srgbClr val="FFFFFF"/>
                </a:solidFill>
              </a:rPr>
              <a:t>Przykład</a:t>
            </a:r>
            <a:r>
              <a:rPr lang="en-US" sz="5000" dirty="0">
                <a:solidFill>
                  <a:srgbClr val="FFFFFF"/>
                </a:solidFill>
              </a:rPr>
              <a:t> - </a:t>
            </a:r>
            <a:r>
              <a:rPr lang="en-US" sz="5000" dirty="0" err="1">
                <a:solidFill>
                  <a:srgbClr val="FFFFFF"/>
                </a:solidFill>
              </a:rPr>
              <a:t>WYgenerowane</a:t>
            </a:r>
            <a:r>
              <a:rPr lang="en-US" sz="5000" dirty="0">
                <a:solidFill>
                  <a:srgbClr val="FFFFFF"/>
                </a:solidFill>
              </a:rPr>
              <a:t> </a:t>
            </a:r>
            <a:r>
              <a:rPr lang="en-US" sz="5000" dirty="0" err="1">
                <a:solidFill>
                  <a:srgbClr val="FFFFFF"/>
                </a:solidFill>
              </a:rPr>
              <a:t>utwory</a:t>
            </a:r>
          </a:p>
        </p:txBody>
      </p:sp>
      <p:cxnSp>
        <p:nvCxnSpPr>
          <p:cNvPr id="17" name="Straight Connector 1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405961"/>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8B1A9DB-B1B3-18D0-CA0C-8919F1D73020}"/>
              </a:ext>
            </a:extLst>
          </p:cNvPr>
          <p:cNvSpPr>
            <a:spLocks noGrp="1"/>
          </p:cNvSpPr>
          <p:nvPr>
            <p:ph type="title"/>
          </p:nvPr>
        </p:nvSpPr>
        <p:spPr>
          <a:xfrm>
            <a:off x="704088" y="914400"/>
            <a:ext cx="3914776" cy="3977269"/>
          </a:xfrm>
        </p:spPr>
        <p:txBody>
          <a:bodyPr>
            <a:normAutofit/>
          </a:bodyPr>
          <a:lstStyle/>
          <a:p>
            <a:r>
              <a:rPr lang="pl-PL">
                <a:ea typeface="+mj-lt"/>
                <a:cs typeface="+mj-lt"/>
              </a:rPr>
              <a:t>Obserwacje i wnioski</a:t>
            </a:r>
            <a:endParaRPr lang="pl-PL"/>
          </a:p>
          <a:p>
            <a:endParaRPr lang="pl-PL" dirty="0"/>
          </a:p>
        </p:txBody>
      </p:sp>
      <p:cxnSp>
        <p:nvCxnSpPr>
          <p:cNvPr id="18" name="Straight Connector 10">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9" name="Symbol zastępczy zawartości 2">
            <a:extLst>
              <a:ext uri="{FF2B5EF4-FFF2-40B4-BE49-F238E27FC236}">
                <a16:creationId xmlns:a16="http://schemas.microsoft.com/office/drawing/2014/main" id="{575B8A70-3725-F274-F18A-3A354682B641}"/>
              </a:ext>
            </a:extLst>
          </p:cNvPr>
          <p:cNvGraphicFramePr>
            <a:graphicFrameLocks noGrp="1"/>
          </p:cNvGraphicFramePr>
          <p:nvPr>
            <p:ph idx="1"/>
            <p:extLst>
              <p:ext uri="{D42A27DB-BD31-4B8C-83A1-F6EECF244321}">
                <p14:modId xmlns:p14="http://schemas.microsoft.com/office/powerpoint/2010/main" val="3182873219"/>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135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D6C40ED-960B-D494-F805-47CD9F87B3F4}"/>
              </a:ext>
            </a:extLst>
          </p:cNvPr>
          <p:cNvSpPr>
            <a:spLocks noGrp="1"/>
          </p:cNvSpPr>
          <p:nvPr>
            <p:ph type="title"/>
          </p:nvPr>
        </p:nvSpPr>
        <p:spPr>
          <a:xfrm>
            <a:off x="700087" y="909638"/>
            <a:ext cx="10691813" cy="1155618"/>
          </a:xfrm>
        </p:spPr>
        <p:txBody>
          <a:bodyPr>
            <a:normAutofit/>
          </a:bodyPr>
          <a:lstStyle/>
          <a:p>
            <a:r>
              <a:rPr lang="pl-PL">
                <a:ea typeface="+mj-lt"/>
                <a:cs typeface="+mj-lt"/>
              </a:rPr>
              <a:t>Propozycje usprawnienia projektu</a:t>
            </a:r>
            <a:endParaRPr lang="pl-PL"/>
          </a:p>
        </p:txBody>
      </p:sp>
      <p:cxnSp>
        <p:nvCxnSpPr>
          <p:cNvPr id="7"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Symbol zastępczy zawartości 2">
            <a:extLst>
              <a:ext uri="{FF2B5EF4-FFF2-40B4-BE49-F238E27FC236}">
                <a16:creationId xmlns:a16="http://schemas.microsoft.com/office/drawing/2014/main" id="{CA7996CB-9C35-98AE-E34B-262A8FB8B836}"/>
              </a:ext>
            </a:extLst>
          </p:cNvPr>
          <p:cNvGraphicFramePr>
            <a:graphicFrameLocks noGrp="1"/>
          </p:cNvGraphicFramePr>
          <p:nvPr>
            <p:ph idx="1"/>
            <p:extLst>
              <p:ext uri="{D42A27DB-BD31-4B8C-83A1-F6EECF244321}">
                <p14:modId xmlns:p14="http://schemas.microsoft.com/office/powerpoint/2010/main" val="1805952448"/>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186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DF1E2E-92DC-55BD-8A19-F2E124FAE1C8}"/>
              </a:ext>
            </a:extLst>
          </p:cNvPr>
          <p:cNvSpPr>
            <a:spLocks noGrp="1"/>
          </p:cNvSpPr>
          <p:nvPr>
            <p:ph type="title"/>
          </p:nvPr>
        </p:nvSpPr>
        <p:spPr/>
        <p:txBody>
          <a:bodyPr/>
          <a:lstStyle/>
          <a:p>
            <a:r>
              <a:rPr lang="pl-PL"/>
              <a:t>KONIEC</a:t>
            </a:r>
          </a:p>
        </p:txBody>
      </p:sp>
      <p:sp>
        <p:nvSpPr>
          <p:cNvPr id="3" name="Symbol zastępczy zawartości 2">
            <a:extLst>
              <a:ext uri="{FF2B5EF4-FFF2-40B4-BE49-F238E27FC236}">
                <a16:creationId xmlns:a16="http://schemas.microsoft.com/office/drawing/2014/main" id="{E52DFEF1-B82A-E834-E73B-4BB94A8DF22E}"/>
              </a:ext>
            </a:extLst>
          </p:cNvPr>
          <p:cNvSpPr>
            <a:spLocks noGrp="1"/>
          </p:cNvSpPr>
          <p:nvPr>
            <p:ph idx="1"/>
          </p:nvPr>
        </p:nvSpPr>
        <p:spPr/>
        <p:txBody>
          <a:bodyPr vert="horz" lIns="91440" tIns="45720" rIns="91440" bIns="45720" rtlCol="0" anchor="ctr">
            <a:normAutofit/>
          </a:bodyPr>
          <a:lstStyle/>
          <a:p>
            <a:pPr marL="0" indent="0" algn="ctr">
              <a:buNone/>
            </a:pPr>
            <a:r>
              <a:rPr lang="pl-PL" sz="5400">
                <a:latin typeface="Aptos"/>
              </a:rPr>
              <a:t>Dziękujemy za uwagę!</a:t>
            </a:r>
            <a:endParaRPr lang="pl-PL" sz="5400"/>
          </a:p>
        </p:txBody>
      </p:sp>
    </p:spTree>
    <p:extLst>
      <p:ext uri="{BB962C8B-B14F-4D97-AF65-F5344CB8AC3E}">
        <p14:creationId xmlns:p14="http://schemas.microsoft.com/office/powerpoint/2010/main" val="180752446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Panoramiczny</PresentationFormat>
  <Paragraphs>0</Paragraphs>
  <Slides>18</Slides>
  <Notes>0</Notes>
  <HiddenSlides>0</HiddenSlides>
  <MMClips>0</MMClips>
  <ScaleCrop>false</ScaleCrop>
  <HeadingPairs>
    <vt:vector size="4" baseType="variant">
      <vt:variant>
        <vt:lpstr>Motyw</vt:lpstr>
      </vt:variant>
      <vt:variant>
        <vt:i4>1</vt:i4>
      </vt:variant>
      <vt:variant>
        <vt:lpstr>Tytuły slajdów</vt:lpstr>
      </vt:variant>
      <vt:variant>
        <vt:i4>18</vt:i4>
      </vt:variant>
    </vt:vector>
  </HeadingPairs>
  <TitlesOfParts>
    <vt:vector size="19" baseType="lpstr">
      <vt:lpstr>ChronicleVTI</vt:lpstr>
      <vt:lpstr>Generator melodii MIDI z wykorzystaniem sieci neuronowych</vt:lpstr>
      <vt:lpstr>CELE PROJEKTU</vt:lpstr>
      <vt:lpstr>Sieć LSTM</vt:lpstr>
      <vt:lpstr>BAZA DANYCH</vt:lpstr>
      <vt:lpstr>Wczytanie danych</vt:lpstr>
      <vt:lpstr>Oznaczenia nut </vt:lpstr>
      <vt:lpstr>GENEROWANIE  TOKENÓW</vt:lpstr>
      <vt:lpstr>PRZYGOTOWANIE DANYCH</vt:lpstr>
      <vt:lpstr>Charakterystyka modelu</vt:lpstr>
      <vt:lpstr>UCZENIE MODELU</vt:lpstr>
      <vt:lpstr>Predykcja</vt:lpstr>
      <vt:lpstr>Karanie pauz</vt:lpstr>
      <vt:lpstr>Generowanie sekwencji</vt:lpstr>
      <vt:lpstr>Parametry utworu</vt:lpstr>
      <vt:lpstr>Przykład - WYgenerowane utwory</vt:lpstr>
      <vt:lpstr>Obserwacje i wnioski </vt:lpstr>
      <vt:lpstr>Propozycje usprawnienia projektu</vt:lpstr>
      <vt:lpstr>KONIEC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127</cp:revision>
  <dcterms:created xsi:type="dcterms:W3CDTF">2026-06-16T16:28:29Z</dcterms:created>
  <dcterms:modified xsi:type="dcterms:W3CDTF">2026-06-16T19:57:21Z</dcterms:modified>
</cp:coreProperties>
</file>